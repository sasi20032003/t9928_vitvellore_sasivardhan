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ModelSentinel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: Static Forensic Analysis and Uncertainty-Aware </a:t>
            </a: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Defense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 Framework for AI Model Supply-Chain Security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Sasi Vardhan Talluri 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>
                <a:solidFill>
                  <a:schemeClr val="tx1"/>
                </a:solidFill>
              </a:rPr>
              <a:t>The AI Supply-Chain Vulnerability:</a:t>
            </a:r>
            <a:r>
              <a:rPr lang="en-IN" sz="2400" b="0" dirty="0">
                <a:solidFill>
                  <a:schemeClr val="tx1"/>
                </a:solidFill>
              </a:rPr>
              <a:t> Open-source foundation models (Hugging Face, Civitai) are ingested directly into enterprise systems with zero parameter-level verification.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The SafeTensors Fallacy:</a:t>
            </a:r>
            <a:r>
              <a:rPr lang="en-IN" sz="2400" b="0" dirty="0">
                <a:solidFill>
                  <a:schemeClr val="tx1"/>
                </a:solidFill>
              </a:rPr>
              <a:t> The industry adopted .safetensors to prevent file deserialization code execution (pickle RCE), falsely assuming the mathematical weights inside are benign.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Weaponized Weight Threats:</a:t>
            </a:r>
            <a:r>
              <a:rPr lang="en-IN" sz="2400" b="0" dirty="0">
                <a:solidFill>
                  <a:schemeClr val="tx1"/>
                </a:solidFill>
              </a:rPr>
              <a:t> Attackers covertly inject neural Trojans, dormant sleeper-agent triggers, and IEEE-754 mantissa steganography directly into model weights without modifying file syntax.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The Problem with Dynamic Defense:</a:t>
            </a:r>
            <a:r>
              <a:rPr lang="en-IN" sz="2400" b="0" dirty="0">
                <a:solidFill>
                  <a:schemeClr val="tx1"/>
                </a:solidFill>
              </a:rPr>
              <a:t> Running inference to test models requires expensive GPU clusters, risks internal system compromise, and fails against dormant triggers activated only by secret prompts.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>
                <a:solidFill>
                  <a:schemeClr val="tx1"/>
                </a:solidFill>
              </a:rPr>
              <a:t>Zero-Execution Weight Auditing:</a:t>
            </a:r>
            <a:r>
              <a:rPr lang="en-IN" sz="2400" b="0" dirty="0">
                <a:solidFill>
                  <a:schemeClr val="tx1"/>
                </a:solidFill>
              </a:rPr>
              <a:t> Design and implement a static forensic engine that inspects .safetensors files at rest with zero runtime execution risk.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Dual-Engine Feature Extraction:</a:t>
            </a:r>
            <a:r>
              <a:rPr lang="en-IN" sz="2400" b="0" dirty="0">
                <a:solidFill>
                  <a:schemeClr val="tx1"/>
                </a:solidFill>
              </a:rPr>
              <a:t> Synthesize 14 distributional shape features and 9 microscopic Random Matrix Theory (RMT) spectral descriptors per tensor.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Anti-Dilution Risk Pooling:</a:t>
            </a:r>
            <a:r>
              <a:rPr lang="en-IN" sz="2400" b="0" dirty="0">
                <a:solidFill>
                  <a:schemeClr val="tx1"/>
                </a:solidFill>
              </a:rPr>
              <a:t> Formulate Log-Sum-Exp Multiple Instance Learning (LSE-MIL) pooling to prevent a single backdoored layer from being diluted by nominal peer layers.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Surgical Remediation without Retraining:</a:t>
            </a:r>
            <a:r>
              <a:rPr lang="en-IN" sz="2400" b="0" dirty="0">
                <a:solidFill>
                  <a:schemeClr val="tx1"/>
                </a:solidFill>
              </a:rPr>
              <a:t> Localize corrupted weights to 256-element blocks and compute rank-1 SVD deflation ($W_{\text{clean}} = W - \sigma_1 u_1 v_1^T$) to neutralize triggers.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Benchmark Targets:</a:t>
            </a:r>
            <a:r>
              <a:rPr lang="en-IN" sz="2400" b="0" dirty="0">
                <a:solidFill>
                  <a:schemeClr val="tx1"/>
                </a:solidFill>
              </a:rPr>
              <a:t> Achieve $\ge 95%$ classification accuracy, $\ge 0.98$ ROC-AUC, and $0.0%$ false quarantine rate on clean foundation checkpoints.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36264" y="5454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21145" cy="4754824"/>
          </a:xfrm>
        </p:spPr>
        <p:txBody>
          <a:bodyPr/>
          <a:lstStyle/>
          <a:p>
            <a:pPr lvl="0"/>
            <a:r>
              <a:rPr lang="en-IN" sz="2400" dirty="0">
                <a:solidFill>
                  <a:schemeClr val="tx1"/>
                </a:solidFill>
              </a:rPr>
              <a:t>Module 1 (Safe Ingestion &amp; Stratification):</a:t>
            </a:r>
            <a:r>
              <a:rPr lang="en-IN" sz="2400" b="0" dirty="0">
                <a:solidFill>
                  <a:schemeClr val="tx1"/>
                </a:solidFill>
              </a:rPr>
              <a:t> Zero-copy memory-mapped loading via safe_open; classifies tensors into cohorts (linear_weight, norm_bias, conv_weight, embedding).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Module 2 (Dual-Engine Feature Extraction):</a:t>
            </a:r>
            <a:r>
              <a:rPr lang="en-IN" sz="2400" b="0" dirty="0">
                <a:solidFill>
                  <a:schemeClr val="tx1"/>
                </a:solidFill>
              </a:rPr>
              <a:t> Extracts 23 features spanning Sarle’s bimodality, mantissa Shannon entropy, Marchenko-Pastur bulk edge, and BBP phase transition spikes.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Module 3 (Intra-Model Scoring &amp; Pooling):</a:t>
            </a:r>
            <a:r>
              <a:rPr lang="en-IN" sz="2400" b="0" dirty="0">
                <a:solidFill>
                  <a:schemeClr val="tx1"/>
                </a:solidFill>
              </a:rPr>
              <a:t> Computes peer Z-scores within cohorts and aggregates model risk via numerically stable Log-Sum-Exp MIL pooling.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Module 4 (Classification &amp; Remediation):</a:t>
            </a:r>
            <a:r>
              <a:rPr lang="en-IN" sz="2400" b="0" dirty="0">
                <a:solidFill>
                  <a:schemeClr val="tx1"/>
                </a:solidFill>
              </a:rPr>
              <a:t> Calibrated supervised risk classifier (ALLOW / REVIEW / QUARANTINE), 256-element coordinate localization, and SVD deflation.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Module 5 (Enterprise Interfaces):</a:t>
            </a:r>
            <a:r>
              <a:rPr lang="en-IN" sz="2400" b="0" dirty="0">
                <a:solidFill>
                  <a:schemeClr val="tx1"/>
                </a:solidFill>
              </a:rPr>
              <a:t> FastAPI REST backend, Streamlit analytical dashboard, and Anthropic Model Context Protocol (MCP) server for autonomous AI agents.</a:t>
            </a:r>
          </a:p>
          <a:p>
            <a:pPr lvl="1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200" b="1" dirty="0"/>
              <a:t>Module Details: Core System Components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>
                <a:solidFill>
                  <a:schemeClr val="tx1"/>
                </a:solidFill>
              </a:rPr>
              <a:t>BBP Phase Transition (Baik-Ben Arous-Péché, 2005):</a:t>
            </a:r>
            <a:r>
              <a:rPr lang="en-IN" sz="2400" b="0" dirty="0">
                <a:solidFill>
                  <a:schemeClr val="tx1"/>
                </a:solidFill>
              </a:rPr>
              <a:t> $$\sigma_{\text{noise}} \approx \frac{\text{MAD}(W)}{0.6745}, \quad \lambda_{\text{bulk}} = \sigma_{\text{noise}}(\sqrt{n} + \sqrt{m}), \quad \mathcal{R}</a:t>
            </a:r>
            <a:r>
              <a:rPr lang="en-IN" sz="2400" b="0" i="1" dirty="0">
                <a:solidFill>
                  <a:schemeClr val="tx1"/>
                </a:solidFill>
              </a:rPr>
              <a:t>{\text{BBP}} = \frac{\sigma_1(W)}{\lambda</a:t>
            </a:r>
            <a:r>
              <a:rPr lang="en-IN" sz="2400" b="0" dirty="0">
                <a:solidFill>
                  <a:schemeClr val="tx1"/>
                </a:solidFill>
              </a:rPr>
              <a:t>{\text{bulk}}}$$ </a:t>
            </a:r>
            <a:r>
              <a:rPr lang="en-IN" sz="2400" b="0" i="1" dirty="0">
                <a:solidFill>
                  <a:schemeClr val="tx1"/>
                </a:solidFill>
              </a:rPr>
              <a:t>(Ratio $&gt; 1.25$ indicates an isolated rank-1 Trojan decoupled from nominal bulk noise).</a:t>
            </a:r>
            <a:endParaRPr lang="en-IN" sz="2400" b="0" dirty="0">
              <a:solidFill>
                <a:schemeClr val="tx1"/>
              </a:solidFill>
            </a:endParaRP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Mantissa Bitplane Shannon Entropy ($H_{\text{mant}}$):</a:t>
            </a:r>
            <a:r>
              <a:rPr lang="en-IN" sz="2400" b="0" dirty="0">
                <a:solidFill>
                  <a:schemeClr val="tx1"/>
                </a:solidFill>
              </a:rPr>
              <a:t> Evaluates entropy across lower-order mantissa bits; bitplane saturation ($H \to 1.0$) isolates encrypted steganographic payloads.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Log-Sum-Exp Multiple Instance Learning (LSE-MIL):</a:t>
            </a:r>
            <a:r>
              <a:rPr lang="en-IN" sz="2400" b="0" dirty="0">
                <a:solidFill>
                  <a:schemeClr val="tx1"/>
                </a:solidFill>
              </a:rPr>
              <a:t> $$\text{LSE}(s; \tau) = \frac{1}{\tau} \ln \left( \sum_{i=1}^N \exp(\tau \cdot s_i) \right)$$ </a:t>
            </a:r>
            <a:r>
              <a:rPr lang="en-IN" sz="2400" b="0" i="1" dirty="0">
                <a:solidFill>
                  <a:schemeClr val="tx1"/>
                </a:solidFill>
              </a:rPr>
              <a:t>(Guarantees a mathematically rigorous lower-bound dominated by the worst corrupted layer).</a:t>
            </a:r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34705"/>
          </a:xfrm>
        </p:spPr>
        <p:txBody>
          <a:bodyPr/>
          <a:lstStyle/>
          <a:p>
            <a:pPr lvl="0"/>
            <a:r>
              <a:rPr lang="en-IN" sz="2000" dirty="0">
                <a:solidFill>
                  <a:schemeClr val="tx1"/>
                </a:solidFill>
              </a:rPr>
              <a:t>Data Representation &amp; Preprocessing:</a:t>
            </a:r>
            <a:endParaRPr lang="en-IN" sz="2000" b="0" dirty="0">
              <a:solidFill>
                <a:schemeClr val="tx1"/>
              </a:solidFill>
            </a:endParaRPr>
          </a:p>
          <a:p>
            <a:pPr lvl="1"/>
            <a:r>
              <a:rPr lang="en-IN" sz="2000" dirty="0"/>
              <a:t>Ingests raw IEEE-754 FP32/FP16 byte arrays from .</a:t>
            </a:r>
            <a:r>
              <a:rPr lang="en-IN" sz="2000" dirty="0" err="1"/>
              <a:t>safetensors</a:t>
            </a:r>
            <a:r>
              <a:rPr lang="en-IN" sz="2000" dirty="0"/>
              <a:t> headers.</a:t>
            </a:r>
          </a:p>
          <a:p>
            <a:pPr lvl="1"/>
            <a:r>
              <a:rPr lang="en-IN" sz="2000" dirty="0"/>
              <a:t>Memory-safe validation: sanitizes non-finite values ($</a:t>
            </a:r>
            <a:r>
              <a:rPr lang="en-IN" sz="2000" dirty="0" err="1"/>
              <a:t>NaN</a:t>
            </a:r>
            <a:r>
              <a:rPr lang="en-IN" sz="2000" dirty="0"/>
              <a:t> / \pm\</a:t>
            </a:r>
            <a:r>
              <a:rPr lang="en-IN" sz="2000" dirty="0" err="1"/>
              <a:t>infty</a:t>
            </a:r>
            <a:r>
              <a:rPr lang="en-IN" sz="2000" dirty="0"/>
              <a:t>$) and validates SHA-256 hashes.</a:t>
            </a:r>
          </a:p>
          <a:p>
            <a:pPr lvl="1"/>
            <a:r>
              <a:rPr lang="en-IN" sz="2000" dirty="0"/>
              <a:t>Reshapes high-dimensional convolution tensors to 2D matrices for Singular Value Decomposition.</a:t>
            </a:r>
          </a:p>
          <a:p>
            <a:pPr lvl="0"/>
            <a:r>
              <a:rPr lang="en-IN" sz="2000" dirty="0">
                <a:solidFill>
                  <a:schemeClr val="tx1"/>
                </a:solidFill>
              </a:rPr>
              <a:t>Exploratory Data Analysis (EDA) Findings on Weight Distributions:</a:t>
            </a:r>
            <a:endParaRPr lang="en-IN" sz="2000" b="0" dirty="0">
              <a:solidFill>
                <a:schemeClr val="tx1"/>
              </a:solidFill>
            </a:endParaRPr>
          </a:p>
          <a:p>
            <a:pPr lvl="1"/>
            <a:r>
              <a:rPr lang="en-IN" sz="2000" i="1" dirty="0"/>
              <a:t>Clean Foundation Weights:</a:t>
            </a:r>
            <a:r>
              <a:rPr lang="en-IN" sz="2000" dirty="0"/>
              <a:t> Display smooth unimodal distributions ($BC \</a:t>
            </a:r>
            <a:r>
              <a:rPr lang="en-IN" sz="2000" dirty="0" err="1"/>
              <a:t>approx</a:t>
            </a:r>
            <a:r>
              <a:rPr lang="en-IN" sz="2000" dirty="0"/>
              <a:t> 0.32$), heavy-tailed power-law spectral decay ($\alpha \in [2.0, 4.5]$), and decaying mantissa </a:t>
            </a:r>
            <a:r>
              <a:rPr lang="en-IN" sz="2000" dirty="0" err="1"/>
              <a:t>bitplane</a:t>
            </a:r>
            <a:r>
              <a:rPr lang="en-IN" sz="2000" dirty="0"/>
              <a:t> entropy.</a:t>
            </a:r>
          </a:p>
          <a:p>
            <a:pPr lvl="1"/>
            <a:r>
              <a:rPr lang="en-IN" sz="2000" i="1" dirty="0"/>
              <a:t>Poisoned / Trojan Weights:</a:t>
            </a:r>
            <a:r>
              <a:rPr lang="en-IN" sz="2000" dirty="0"/>
              <a:t> Exhibit anomalous platykurtic bimodal splitting ($BC &gt; 0.555$) and severe singular value concentration ($\</a:t>
            </a:r>
            <a:r>
              <a:rPr lang="en-IN" sz="2000" dirty="0" err="1"/>
              <a:t>mathcal</a:t>
            </a:r>
            <a:r>
              <a:rPr lang="en-IN" sz="2000" dirty="0"/>
              <a:t>{R}_{\text{BBP}} &gt; 1.4$).</a:t>
            </a:r>
          </a:p>
          <a:p>
            <a:pPr lvl="1"/>
            <a:r>
              <a:rPr lang="en-IN" sz="2000" i="1" dirty="0"/>
              <a:t>Steganographic Tensors:</a:t>
            </a:r>
            <a:r>
              <a:rPr lang="en-IN" sz="2000" dirty="0"/>
              <a:t> Show flat uniform Bernoulli bit distributions ($H_{\text{</a:t>
            </a:r>
            <a:r>
              <a:rPr lang="en-IN" sz="2000" dirty="0" err="1"/>
              <a:t>mant</a:t>
            </a:r>
            <a:r>
              <a:rPr lang="en-IN" sz="2000" dirty="0"/>
              <a:t>}} \</a:t>
            </a:r>
            <a:r>
              <a:rPr lang="en-IN" sz="2000" dirty="0" err="1"/>
              <a:t>ge</a:t>
            </a:r>
            <a:r>
              <a:rPr lang="en-IN" sz="2000" dirty="0"/>
              <a:t> 0.98$) across bits 0–7.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000" dirty="0">
                <a:solidFill>
                  <a:schemeClr val="tx1"/>
                </a:solidFill>
              </a:rPr>
              <a:t>Core Forensic Algorithms:</a:t>
            </a:r>
            <a:endParaRPr lang="en-IN" sz="2000" b="0" dirty="0">
              <a:solidFill>
                <a:schemeClr val="tx1"/>
              </a:solidFill>
            </a:endParaRPr>
          </a:p>
          <a:p>
            <a:pPr lvl="1"/>
            <a:r>
              <a:rPr lang="en-IN" sz="2000" i="1" dirty="0"/>
              <a:t>Spectral RMT:</a:t>
            </a:r>
            <a:r>
              <a:rPr lang="en-IN" sz="2000" dirty="0"/>
              <a:t> SVD singular value decomposition, Marchenko-</a:t>
            </a:r>
            <a:r>
              <a:rPr lang="en-IN" sz="2000" dirty="0" err="1"/>
              <a:t>Pastur</a:t>
            </a:r>
            <a:r>
              <a:rPr lang="en-IN" sz="2000" dirty="0"/>
              <a:t> bulk estimation via MAD, Power-Law MLE tail fitting ($\alpha$).</a:t>
            </a:r>
          </a:p>
          <a:p>
            <a:pPr lvl="1"/>
            <a:r>
              <a:rPr lang="en-IN" sz="2000" i="1" dirty="0"/>
              <a:t>Statistical Profiling:</a:t>
            </a:r>
            <a:r>
              <a:rPr lang="en-IN" sz="2000" dirty="0"/>
              <a:t> </a:t>
            </a:r>
            <a:r>
              <a:rPr lang="en-IN" sz="2000" dirty="0" err="1"/>
              <a:t>Sarle’s</a:t>
            </a:r>
            <a:r>
              <a:rPr lang="en-IN" sz="2000" dirty="0"/>
              <a:t> Bimodality Coefficient, Pearson Kurtosis/Skewness, </a:t>
            </a:r>
            <a:r>
              <a:rPr lang="en-IN" sz="2000" dirty="0" err="1"/>
              <a:t>Bitplane</a:t>
            </a:r>
            <a:r>
              <a:rPr lang="en-IN" sz="2000" dirty="0"/>
              <a:t> Shannon Entropy, Exact Duplicate Ratio ($R_{\text{dup}}$).</a:t>
            </a:r>
          </a:p>
          <a:p>
            <a:pPr lvl="1"/>
            <a:r>
              <a:rPr lang="en-IN" sz="2000" i="1" dirty="0"/>
              <a:t>Classification:</a:t>
            </a:r>
            <a:r>
              <a:rPr lang="en-IN" sz="2000" dirty="0"/>
              <a:t> L2-penalized Logistic Regression meta-classifier trained on 28 pooled features.</a:t>
            </a:r>
          </a:p>
          <a:p>
            <a:pPr lvl="0"/>
            <a:r>
              <a:rPr lang="en-IN" sz="2000" dirty="0">
                <a:solidFill>
                  <a:schemeClr val="tx1"/>
                </a:solidFill>
              </a:rPr>
              <a:t>Technology Stack &amp; Frameworks:</a:t>
            </a:r>
            <a:endParaRPr lang="en-IN" sz="2000" b="0" dirty="0">
              <a:solidFill>
                <a:schemeClr val="tx1"/>
              </a:solidFill>
            </a:endParaRPr>
          </a:p>
          <a:p>
            <a:pPr lvl="1"/>
            <a:r>
              <a:rPr lang="en-IN" sz="2000" i="1" dirty="0"/>
              <a:t>Language &amp; </a:t>
            </a:r>
            <a:r>
              <a:rPr lang="en-IN" sz="2000" i="1" dirty="0" err="1"/>
              <a:t>Numerics</a:t>
            </a:r>
            <a:r>
              <a:rPr lang="en-IN" sz="2000" i="1" dirty="0"/>
              <a:t>:</a:t>
            </a:r>
            <a:r>
              <a:rPr lang="en-IN" sz="2000" dirty="0"/>
              <a:t> Python 3.9+, NumPy (vectorized ops), SciPy (SVD &amp; stats), </a:t>
            </a:r>
            <a:r>
              <a:rPr lang="en-IN" sz="2000" dirty="0" err="1"/>
              <a:t>safetensors</a:t>
            </a:r>
            <a:r>
              <a:rPr lang="en-IN" sz="2000" dirty="0"/>
              <a:t> (zero-copy loader).</a:t>
            </a:r>
          </a:p>
          <a:p>
            <a:pPr lvl="1"/>
            <a:r>
              <a:rPr lang="en-IN" sz="2000" i="1" dirty="0"/>
              <a:t>Machine Learning &amp; Evaluation:</a:t>
            </a:r>
            <a:r>
              <a:rPr lang="en-IN" sz="2000" dirty="0"/>
              <a:t> Scikit-Learn (cross-validation, ROC-AUC metrics).</a:t>
            </a:r>
          </a:p>
          <a:p>
            <a:pPr lvl="1"/>
            <a:r>
              <a:rPr lang="en-IN" sz="2000" i="1" dirty="0"/>
              <a:t>Enterprise Delivery:</a:t>
            </a:r>
            <a:r>
              <a:rPr lang="en-IN" sz="2000" dirty="0"/>
              <a:t> </a:t>
            </a:r>
            <a:r>
              <a:rPr lang="en-IN" sz="2000" dirty="0" err="1"/>
              <a:t>FastAPI</a:t>
            </a:r>
            <a:r>
              <a:rPr lang="en-IN" sz="2000" dirty="0"/>
              <a:t> (async REST API), </a:t>
            </a:r>
            <a:r>
              <a:rPr lang="en-IN" sz="2000" dirty="0" err="1"/>
              <a:t>Streamlit</a:t>
            </a:r>
            <a:r>
              <a:rPr lang="en-IN" sz="2000" dirty="0"/>
              <a:t> (dashboard), Typer &amp; Rich (CLI).</a:t>
            </a:r>
          </a:p>
          <a:p>
            <a:pPr lvl="1"/>
            <a:r>
              <a:rPr lang="en-IN" sz="2000" i="1" dirty="0"/>
              <a:t>Testing &amp; Code Quality:</a:t>
            </a:r>
            <a:r>
              <a:rPr lang="en-IN" sz="2000" dirty="0"/>
              <a:t> </a:t>
            </a:r>
            <a:r>
              <a:rPr lang="en-IN" sz="2000" dirty="0" err="1"/>
              <a:t>Pytest</a:t>
            </a:r>
            <a:r>
              <a:rPr lang="en-IN" sz="2000" dirty="0"/>
              <a:t>, </a:t>
            </a:r>
            <a:r>
              <a:rPr lang="en-IN" sz="2000" dirty="0" err="1"/>
              <a:t>Pytest</a:t>
            </a:r>
            <a:r>
              <a:rPr lang="en-IN" sz="2000" dirty="0"/>
              <a:t>-Cov (comprehensive unit/integration suites), Ruff (linting).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000" dirty="0">
                <a:solidFill>
                  <a:schemeClr val="tx1"/>
                </a:solidFill>
              </a:rPr>
              <a:t>Milestone 1: Core Mathematical Engine &amp; Ingestion (100% Completed)</a:t>
            </a:r>
            <a:endParaRPr lang="en-IN" sz="2000" b="0" dirty="0">
              <a:solidFill>
                <a:schemeClr val="tx1"/>
              </a:solidFill>
            </a:endParaRPr>
          </a:p>
          <a:p>
            <a:pPr lvl="1"/>
            <a:r>
              <a:rPr lang="en-IN" sz="2000" dirty="0"/>
              <a:t>Implemented fail-closed </a:t>
            </a:r>
            <a:r>
              <a:rPr lang="en-IN" sz="2000" dirty="0" err="1"/>
              <a:t>safe_open</a:t>
            </a:r>
            <a:r>
              <a:rPr lang="en-IN" sz="2000" dirty="0"/>
              <a:t> parser, layer stratification, and dual-engine feature extraction.</a:t>
            </a:r>
          </a:p>
          <a:p>
            <a:pPr lvl="0"/>
            <a:r>
              <a:rPr lang="en-IN" sz="2000" dirty="0">
                <a:solidFill>
                  <a:schemeClr val="tx1"/>
                </a:solidFill>
              </a:rPr>
              <a:t>Milestone 2: Anomaly Scoring, Pooling &amp; Model Validation (100% Completed - Review II Focus)</a:t>
            </a:r>
            <a:endParaRPr lang="en-IN" sz="2000" b="0" dirty="0">
              <a:solidFill>
                <a:schemeClr val="tx1"/>
              </a:solidFill>
            </a:endParaRPr>
          </a:p>
          <a:p>
            <a:pPr lvl="1"/>
            <a:r>
              <a:rPr lang="en-IN" sz="2000" dirty="0"/>
              <a:t>Built LSE-MIL pooling; completed 5-fold cross-validation across 200 checkpoints (</a:t>
            </a:r>
            <a:r>
              <a:rPr lang="en-IN" sz="2000" b="1" dirty="0"/>
              <a:t>96.5% </a:t>
            </a:r>
            <a:r>
              <a:rPr lang="en-IN" sz="2000" b="1" dirty="0" err="1"/>
              <a:t>Acc</a:t>
            </a:r>
            <a:r>
              <a:rPr lang="en-IN" sz="2000" b="1" dirty="0"/>
              <a:t>, 0.987 ROC-AUC, 0% FQR</a:t>
            </a:r>
            <a:r>
              <a:rPr lang="en-IN" sz="2000" dirty="0"/>
              <a:t>).</a:t>
            </a:r>
          </a:p>
          <a:p>
            <a:pPr lvl="0"/>
            <a:r>
              <a:rPr lang="en-IN" sz="2000" dirty="0">
                <a:solidFill>
                  <a:schemeClr val="tx1"/>
                </a:solidFill>
              </a:rPr>
              <a:t>Milestone 3: Localization &amp; Surgical Remediation (90% Completed)</a:t>
            </a:r>
            <a:endParaRPr lang="en-IN" sz="2000" b="0" dirty="0">
              <a:solidFill>
                <a:schemeClr val="tx1"/>
              </a:solidFill>
            </a:endParaRPr>
          </a:p>
          <a:p>
            <a:pPr lvl="1"/>
            <a:r>
              <a:rPr lang="en-IN" sz="2000" dirty="0"/>
              <a:t>Implemented 256-element sub-tensor coordinate search and Rank-1 SVD deflation prescriptions.</a:t>
            </a:r>
          </a:p>
          <a:p>
            <a:pPr lvl="0"/>
            <a:r>
              <a:rPr lang="en-IN" sz="2000" dirty="0">
                <a:solidFill>
                  <a:schemeClr val="tx1"/>
                </a:solidFill>
              </a:rPr>
              <a:t>Milestone 4: Enterprise Integration &amp; Productionization (Ongoing for Review III / Final)</a:t>
            </a:r>
            <a:endParaRPr lang="en-IN" sz="2000" b="0" dirty="0">
              <a:solidFill>
                <a:schemeClr val="tx1"/>
              </a:solidFill>
            </a:endParaRPr>
          </a:p>
          <a:p>
            <a:pPr lvl="1"/>
            <a:r>
              <a:rPr lang="en-IN" sz="2000" dirty="0"/>
              <a:t>Deployed </a:t>
            </a:r>
            <a:r>
              <a:rPr lang="en-IN" sz="2000" dirty="0" err="1"/>
              <a:t>FastAPI</a:t>
            </a:r>
            <a:r>
              <a:rPr lang="en-IN" sz="2000" dirty="0"/>
              <a:t> endpoints, </a:t>
            </a:r>
            <a:r>
              <a:rPr lang="en-IN" sz="2000" dirty="0" err="1"/>
              <a:t>Streamlit</a:t>
            </a:r>
            <a:r>
              <a:rPr lang="en-IN" sz="2000" dirty="0"/>
              <a:t> visual UI, and Anthropic Model Context Protocol (MCP) server.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000" dirty="0">
                <a:solidFill>
                  <a:schemeClr val="tx1"/>
                </a:solidFill>
              </a:rPr>
              <a:t>End-to-End Operational Pipeline:</a:t>
            </a:r>
            <a:endParaRPr lang="en-IN" sz="2000" b="0" dirty="0">
              <a:solidFill>
                <a:schemeClr val="tx1"/>
              </a:solidFill>
            </a:endParaRPr>
          </a:p>
          <a:p>
            <a:pPr lvl="1"/>
            <a:r>
              <a:rPr lang="en-IN" sz="2000" b="1" dirty="0"/>
              <a:t>Ingest &amp; Validate:</a:t>
            </a:r>
            <a:r>
              <a:rPr lang="en-IN" sz="2000" dirty="0"/>
              <a:t> Memory-map .</a:t>
            </a:r>
            <a:r>
              <a:rPr lang="en-IN" sz="2000" dirty="0" err="1"/>
              <a:t>safetensors</a:t>
            </a:r>
            <a:r>
              <a:rPr lang="en-IN" sz="2000" dirty="0"/>
              <a:t>, compute SHA-256, sanitize $</a:t>
            </a:r>
            <a:r>
              <a:rPr lang="en-IN" sz="2000" dirty="0" err="1"/>
              <a:t>NaN</a:t>
            </a:r>
            <a:r>
              <a:rPr lang="en-IN" sz="2000" dirty="0"/>
              <a:t>/\pm\</a:t>
            </a:r>
            <a:r>
              <a:rPr lang="en-IN" sz="2000" dirty="0" err="1"/>
              <a:t>infty</a:t>
            </a:r>
            <a:r>
              <a:rPr lang="en-IN" sz="2000" dirty="0"/>
              <a:t>$.</a:t>
            </a:r>
          </a:p>
          <a:p>
            <a:pPr lvl="1"/>
            <a:r>
              <a:rPr lang="en-IN" sz="2000" b="1" dirty="0"/>
              <a:t>Stratify:</a:t>
            </a:r>
            <a:r>
              <a:rPr lang="en-IN" sz="2000" dirty="0"/>
              <a:t> Group tensors into like-kind peer cohorts (linear, norm, conv, embed).</a:t>
            </a:r>
          </a:p>
          <a:p>
            <a:pPr lvl="1"/>
            <a:r>
              <a:rPr lang="en-IN" sz="2000" b="1" dirty="0"/>
              <a:t>Extract Features:</a:t>
            </a:r>
            <a:r>
              <a:rPr lang="en-IN" sz="2000" dirty="0"/>
              <a:t> Synthesize 14 distributional moments + 9 spectral RMT descriptors.</a:t>
            </a:r>
          </a:p>
          <a:p>
            <a:pPr lvl="1"/>
            <a:r>
              <a:rPr lang="en-IN" sz="2000" b="1" dirty="0"/>
              <a:t>Score Anomaly:</a:t>
            </a:r>
            <a:r>
              <a:rPr lang="en-IN" sz="2000" dirty="0"/>
              <a:t> Compute intra-cohort peer Z-scores and MAD thresholds.</a:t>
            </a:r>
          </a:p>
          <a:p>
            <a:pPr lvl="1"/>
            <a:r>
              <a:rPr lang="en-IN" sz="2000" b="1" dirty="0"/>
              <a:t>Aggregate Risk:</a:t>
            </a:r>
            <a:r>
              <a:rPr lang="en-IN" sz="2000" dirty="0"/>
              <a:t> Apply Log-Sum-Exp Multiple Instance Learning (LSE-MIL) pooling.</a:t>
            </a:r>
          </a:p>
          <a:p>
            <a:pPr lvl="1"/>
            <a:r>
              <a:rPr lang="en-IN" sz="2000" b="1" dirty="0"/>
              <a:t>Classify &amp; Decide:</a:t>
            </a:r>
            <a:r>
              <a:rPr lang="en-IN" sz="2000" dirty="0"/>
              <a:t> Meta-classifier outputs ALLOW ($&lt;0.35$), REVIEW, or QUARANTINE ($\ge0.85$).</a:t>
            </a:r>
          </a:p>
          <a:p>
            <a:pPr lvl="1"/>
            <a:r>
              <a:rPr lang="en-IN" sz="2000" b="1" dirty="0"/>
              <a:t>Localize &amp; Remediate:</a:t>
            </a:r>
            <a:r>
              <a:rPr lang="en-IN" sz="2000" dirty="0"/>
              <a:t> Isolate anomalous 256-element block; compute rank-1 SVD deflation.</a:t>
            </a:r>
          </a:p>
          <a:p>
            <a:pPr lvl="1"/>
            <a:r>
              <a:rPr lang="en-IN" sz="2000" b="1" dirty="0"/>
              <a:t>Serve:</a:t>
            </a:r>
            <a:r>
              <a:rPr lang="en-IN" sz="2000" dirty="0"/>
              <a:t> Expose report via CLI, </a:t>
            </a:r>
            <a:r>
              <a:rPr lang="en-IN" sz="2000" dirty="0" err="1"/>
              <a:t>FastAPI</a:t>
            </a:r>
            <a:r>
              <a:rPr lang="en-IN" sz="2000" dirty="0"/>
              <a:t> REST service, </a:t>
            </a:r>
            <a:r>
              <a:rPr lang="en-IN" sz="2000" dirty="0" err="1"/>
              <a:t>Streamlit</a:t>
            </a:r>
            <a:r>
              <a:rPr lang="en-IN" sz="2000" dirty="0"/>
              <a:t> UI, and AI Agent MCP.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1250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Sasivardhan Talluri</cp:lastModifiedBy>
  <cp:revision>13</cp:revision>
  <dcterms:created xsi:type="dcterms:W3CDTF">2024-05-13T10:33:11Z</dcterms:created>
  <dcterms:modified xsi:type="dcterms:W3CDTF">2026-10-05T15:59:59Z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