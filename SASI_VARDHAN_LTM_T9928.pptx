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identification details and requested five-slide structure.</a:t>
            </a:r>
          </a:p>
          <a:p>
            <a:r>
              <a:t>- PROJECT 01.pdf and PROJECT 02.pdf (project titles and themes).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01.pdf (provided by user), Sections 1–3: Problem Statement, Objectives in Detail, and Dataset.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01.pdf (provided by user), Sections 4–5: Technical Stack and Expected Outcomes.</a:t>
            </a:r>
          </a:p>
          <a:p>
            <a:r>
              <a:t>- PROJECT 01.pdf, Section 1: stated scope boundary for informational decision support.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02.pdf (provided by user), Sections 1–3: Problem Statement, Objectives in Detail, and Dataset.</a:t>
            </a:r>
          </a:p>
          <a:p>
            <a:r>
              <a:t>- PROJECT 02.pdf uses ModelSentinel in the title and ModelMRI for the prototype scanner; both names are retained transparently.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02.pdf (provided by user), Sections 4–5: Technical Stack and Expected Outcomes.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ver-kicker">
            <a:extLst>
              <a:ext uri="{FF2B5EF4-FFF2-40B4-BE49-F238E27FC236}">
                <a16:creationId xmlns:a16="http://schemas.microsoft.com/office/drawing/2014/main" id="{7B78B2DF-DAE0-4EDD-9D10-8272EC526D07}"/>
              </a:ext>
            </a:extLst>
          </p:cNvPr>
          <p:cNvSpPr>
            <a:spLocks noGrp="1"/>
          </p:cNvSpPr>
          <p:nvPr/>
        </p:nvSpPr>
        <p:spPr>
          <a:xfrm>
            <a:off x="267928" y="561974"/>
            <a:ext cx="11383297" cy="596664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dirty="0">
                <a:solidFill>
                  <a:schemeClr val="tx2"/>
                </a:solidFill>
              </a:rPr>
              <a:t>LTM  •  PROJECT REVIEW</a:t>
            </a:r>
            <a:endParaRPr lang="en-US" sz="3600" dirty="0">
              <a:solidFill>
                <a:schemeClr val="tx2"/>
              </a:solidFill>
            </a:endParaRPr>
          </a:p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endParaRPr lang="en-IN" sz="3600" dirty="0">
              <a:solidFill>
                <a:schemeClr val="tx2"/>
              </a:solidFill>
            </a:endParaRPr>
          </a:p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endParaRPr lang="en-IN" sz="3600" dirty="0">
              <a:solidFill>
                <a:schemeClr val="tx2"/>
              </a:solidFill>
            </a:endParaRPr>
          </a:p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endParaRPr lang="en-IN" sz="3600" dirty="0">
              <a:solidFill>
                <a:schemeClr val="tx2"/>
              </a:solidFill>
            </a:endParaRPr>
          </a:p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endParaRPr lang="en-IN" sz="3600" dirty="0">
              <a:solidFill>
                <a:schemeClr val="tx2"/>
              </a:solidFill>
            </a:endParaRPr>
          </a:p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lang="en-IN" sz="3600" dirty="0">
                <a:solidFill>
                  <a:schemeClr val="tx2"/>
                </a:solidFill>
              </a:rPr>
              <a:t>SASI VARDHAN TALLURI</a:t>
            </a:r>
          </a:p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lang="en-IN" sz="3600" dirty="0">
                <a:solidFill>
                  <a:schemeClr val="tx2"/>
                </a:solidFill>
              </a:rPr>
              <a:t>T9928</a:t>
            </a:r>
          </a:p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lang="en-IN" sz="3600" dirty="0">
                <a:solidFill>
                  <a:schemeClr val="tx2"/>
                </a:solidFill>
              </a:rPr>
              <a:t>VIT VELLORE </a:t>
            </a:r>
          </a:p>
          <a:p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8" name="institution">
            <a:extLst>
              <a:ext uri="{FF2B5EF4-FFF2-40B4-BE49-F238E27FC236}">
                <a16:creationId xmlns:a16="http://schemas.microsoft.com/office/drawing/2014/main" id="{23A71AD6-2AAB-4563-8953-5D0B631B99D5}"/>
              </a:ext>
            </a:extLst>
          </p:cNvPr>
          <p:cNvSpPr>
            <a:spLocks noGrp="1"/>
          </p:cNvSpPr>
          <p:nvPr/>
        </p:nvSpPr>
        <p:spPr>
          <a:xfrm>
            <a:off x="1162664" y="5448300"/>
            <a:ext cx="40957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454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roject1-foundation-accent">
            <a:extLst>
              <a:ext uri="{FF2B5EF4-FFF2-40B4-BE49-F238E27FC236}">
                <a16:creationId xmlns:a16="http://schemas.microsoft.com/office/drawing/2014/main" id="{11D5E5F1-B1BF-4CAA-ADF7-D975F2662C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" name="project1-foundation-kicker">
            <a:extLst>
              <a:ext uri="{FF2B5EF4-FFF2-40B4-BE49-F238E27FC236}">
                <a16:creationId xmlns:a16="http://schemas.microsoft.com/office/drawing/2014/main" id="{6BC29389-4B1A-44E5-9DE8-A28062D3C701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3429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dirty="0"/>
              <a:t>PROJECT 01  </a:t>
            </a:r>
          </a:p>
        </p:txBody>
      </p:sp>
      <p:sp>
        <p:nvSpPr>
          <p:cNvPr id="3" name="project1-foundation-title">
            <a:extLst>
              <a:ext uri="{FF2B5EF4-FFF2-40B4-BE49-F238E27FC236}">
                <a16:creationId xmlns:a16="http://schemas.microsoft.com/office/drawing/2014/main" id="{8FB0B6CF-F495-4C32-8118-38E797A08437}"/>
              </a:ext>
            </a:extLst>
          </p:cNvPr>
          <p:cNvSpPr>
            <a:spLocks noGrp="1"/>
          </p:cNvSpPr>
          <p:nvPr/>
        </p:nvSpPr>
        <p:spPr>
          <a:xfrm>
            <a:off x="438150" y="647700"/>
            <a:ext cx="11315700" cy="609600"/>
          </a:xfrm>
          <a:prstGeom prst="rect">
            <a:avLst/>
          </a:prstGeom>
        </p:spPr>
        <p:txBody>
          <a:bodyPr wrap="square" lIns="0" tIns="0" rIns="0" bIns="0" anchor="t">
            <a:normAutofit fontScale="74582" lnSpcReduction="20000"/>
          </a:bodyPr>
          <a:lstStyle/>
          <a:p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PolicyGraph</a:t>
            </a:r>
            <a:r>
              <a:rPr dirty="0"/>
              <a:t>-RAG resolves which policy clause actually applies</a:t>
            </a:r>
          </a:p>
        </p:txBody>
      </p:sp>
      <p:sp>
        <p:nvSpPr>
          <p:cNvPr id="4" name="project1-foundation-subtitle">
            <a:extLst>
              <a:ext uri="{FF2B5EF4-FFF2-40B4-BE49-F238E27FC236}">
                <a16:creationId xmlns:a16="http://schemas.microsoft.com/office/drawing/2014/main" id="{74724D2E-4B43-43DB-BE60-0759DF978665}"/>
              </a:ext>
            </a:extLst>
          </p:cNvPr>
          <p:cNvSpPr>
            <a:spLocks noGrp="1"/>
          </p:cNvSpPr>
          <p:nvPr/>
        </p:nvSpPr>
        <p:spPr>
          <a:xfrm>
            <a:off x="438150" y="1028700"/>
            <a:ext cx="113157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dirty="0"/>
              <a:t>Temporal validity, policy identity and document authority are checked before an answer is generated.</a:t>
            </a:r>
          </a:p>
        </p:txBody>
      </p:sp>
      <p:sp>
        <p:nvSpPr>
          <p:cNvPr id="5" name="project1-foundation-top-rule">
            <a:extLst>
              <a:ext uri="{FF2B5EF4-FFF2-40B4-BE49-F238E27FC236}">
                <a16:creationId xmlns:a16="http://schemas.microsoft.com/office/drawing/2014/main" id="{35E2E2F8-A36F-4454-90DC-1C77A930BC9E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113157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project1-foundation-number-1">
            <a:extLst>
              <a:ext uri="{FF2B5EF4-FFF2-40B4-BE49-F238E27FC236}">
                <a16:creationId xmlns:a16="http://schemas.microsoft.com/office/drawing/2014/main" id="{B1C4A844-EB86-4252-B88D-0867D255B121}"/>
              </a:ext>
            </a:extLst>
          </p:cNvPr>
          <p:cNvSpPr>
            <a:spLocks noGrp="1"/>
          </p:cNvSpPr>
          <p:nvPr/>
        </p:nvSpPr>
        <p:spPr>
          <a:xfrm>
            <a:off x="438150" y="1981200"/>
            <a:ext cx="8763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project1-foundation-heading-1">
            <a:extLst>
              <a:ext uri="{FF2B5EF4-FFF2-40B4-BE49-F238E27FC236}">
                <a16:creationId xmlns:a16="http://schemas.microsoft.com/office/drawing/2014/main" id="{BFA82D7D-07B3-4536-9A3A-5AE5C5C6CFF3}"/>
              </a:ext>
            </a:extLst>
          </p:cNvPr>
          <p:cNvSpPr>
            <a:spLocks noGrp="1"/>
          </p:cNvSpPr>
          <p:nvPr/>
        </p:nvSpPr>
        <p:spPr>
          <a:xfrm>
            <a:off x="438150" y="2571750"/>
            <a:ext cx="32766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Problem statement</a:t>
            </a:r>
          </a:p>
        </p:txBody>
      </p:sp>
      <p:sp>
        <p:nvSpPr>
          <p:cNvPr id="8" name="project1-foundation-column-rule-1">
            <a:extLst>
              <a:ext uri="{FF2B5EF4-FFF2-40B4-BE49-F238E27FC236}">
                <a16:creationId xmlns:a16="http://schemas.microsoft.com/office/drawing/2014/main" id="{4E5C816A-FE7D-4875-AE9B-EBC64759FB8F}"/>
              </a:ext>
            </a:extLst>
          </p:cNvPr>
          <p:cNvSpPr>
            <a:spLocks noGrp="1"/>
          </p:cNvSpPr>
          <p:nvPr/>
        </p:nvSpPr>
        <p:spPr>
          <a:xfrm>
            <a:off x="438150" y="3352800"/>
            <a:ext cx="3276600" cy="28575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9" name="project1-foundation-body-1">
            <a:extLst>
              <a:ext uri="{FF2B5EF4-FFF2-40B4-BE49-F238E27FC236}">
                <a16:creationId xmlns:a16="http://schemas.microsoft.com/office/drawing/2014/main" id="{B882228E-8321-43DF-8354-D3191FC24D1B}"/>
              </a:ext>
            </a:extLst>
          </p:cNvPr>
          <p:cNvSpPr>
            <a:spLocks noGrp="1"/>
          </p:cNvSpPr>
          <p:nvPr/>
        </p:nvSpPr>
        <p:spPr>
          <a:xfrm>
            <a:off x="438150" y="3581400"/>
            <a:ext cx="3276600" cy="2324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Semantic similarity can retrieve obsolete, superseded or wrong-policy clauses. A plausible answer may therefore be operationally incorrect when policies change through schedules, renewals or endorsements.</a:t>
            </a:r>
          </a:p>
        </p:txBody>
      </p:sp>
      <p:sp>
        <p:nvSpPr>
          <p:cNvPr id="10" name="project1-foundation-callout-1">
            <a:extLst>
              <a:ext uri="{FF2B5EF4-FFF2-40B4-BE49-F238E27FC236}">
                <a16:creationId xmlns:a16="http://schemas.microsoft.com/office/drawing/2014/main" id="{00F846FD-75CF-489C-8BF6-6196C0BCD5D5}"/>
              </a:ext>
            </a:extLst>
          </p:cNvPr>
          <p:cNvSpPr>
            <a:spLocks noGrp="1"/>
          </p:cNvSpPr>
          <p:nvPr/>
        </p:nvSpPr>
        <p:spPr>
          <a:xfrm>
            <a:off x="438150" y="6038850"/>
            <a:ext cx="3276600" cy="323850"/>
          </a:xfrm>
          <a:prstGeom prst="rect">
            <a:avLst/>
          </a:prstGeom>
        </p:spPr>
        <p:txBody>
          <a:bodyPr wrap="square" lIns="0" tIns="0" rIns="0" bIns="0" anchor="t">
            <a:normAutofit fontScale="90725"/>
          </a:bodyPr>
          <a:lstStyle/>
          <a:p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Risk: cited evidence can still be inapplicable</a:t>
            </a:r>
          </a:p>
        </p:txBody>
      </p:sp>
      <p:sp>
        <p:nvSpPr>
          <p:cNvPr id="11" name="project1-foundation-divider-1">
            <a:extLst>
              <a:ext uri="{FF2B5EF4-FFF2-40B4-BE49-F238E27FC236}">
                <a16:creationId xmlns:a16="http://schemas.microsoft.com/office/drawing/2014/main" id="{607216DA-3848-4973-BF32-807ED81A88B5}"/>
              </a:ext>
            </a:extLst>
          </p:cNvPr>
          <p:cNvSpPr>
            <a:spLocks noGrp="1"/>
          </p:cNvSpPr>
          <p:nvPr/>
        </p:nvSpPr>
        <p:spPr>
          <a:xfrm>
            <a:off x="4019550" y="1981200"/>
            <a:ext cx="9525" cy="43624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project1-foundation-number-2">
            <a:extLst>
              <a:ext uri="{FF2B5EF4-FFF2-40B4-BE49-F238E27FC236}">
                <a16:creationId xmlns:a16="http://schemas.microsoft.com/office/drawing/2014/main" id="{0D4F119A-37A2-40FC-ABF2-B900D5EE23A7}"/>
              </a:ext>
            </a:extLst>
          </p:cNvPr>
          <p:cNvSpPr>
            <a:spLocks noGrp="1"/>
          </p:cNvSpPr>
          <p:nvPr/>
        </p:nvSpPr>
        <p:spPr>
          <a:xfrm>
            <a:off x="4305300" y="1981200"/>
            <a:ext cx="8763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project1-foundation-heading-2">
            <a:extLst>
              <a:ext uri="{FF2B5EF4-FFF2-40B4-BE49-F238E27FC236}">
                <a16:creationId xmlns:a16="http://schemas.microsoft.com/office/drawing/2014/main" id="{3A2B5866-5617-4C4D-AA21-DC8F9A02A8A6}"/>
              </a:ext>
            </a:extLst>
          </p:cNvPr>
          <p:cNvSpPr>
            <a:spLocks noGrp="1"/>
          </p:cNvSpPr>
          <p:nvPr/>
        </p:nvSpPr>
        <p:spPr>
          <a:xfrm>
            <a:off x="4305300" y="2571750"/>
            <a:ext cx="32766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Objectives</a:t>
            </a:r>
          </a:p>
        </p:txBody>
      </p:sp>
      <p:sp>
        <p:nvSpPr>
          <p:cNvPr id="14" name="project1-foundation-column-rule-2">
            <a:extLst>
              <a:ext uri="{FF2B5EF4-FFF2-40B4-BE49-F238E27FC236}">
                <a16:creationId xmlns:a16="http://schemas.microsoft.com/office/drawing/2014/main" id="{DD634B4C-D047-4BB1-B7F5-808BA5663E81}"/>
              </a:ext>
            </a:extLst>
          </p:cNvPr>
          <p:cNvSpPr>
            <a:spLocks noGrp="1"/>
          </p:cNvSpPr>
          <p:nvPr/>
        </p:nvSpPr>
        <p:spPr>
          <a:xfrm>
            <a:off x="4305300" y="3352800"/>
            <a:ext cx="3276600" cy="28575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5" name="project1-foundation-body-2">
            <a:extLst>
              <a:ext uri="{FF2B5EF4-FFF2-40B4-BE49-F238E27FC236}">
                <a16:creationId xmlns:a16="http://schemas.microsoft.com/office/drawing/2014/main" id="{8A9BCA3B-78B9-4D5F-B8A5-4D5A93F09737}"/>
              </a:ext>
            </a:extLst>
          </p:cNvPr>
          <p:cNvSpPr>
            <a:spLocks noGrp="1"/>
          </p:cNvSpPr>
          <p:nvPr/>
        </p:nvSpPr>
        <p:spPr>
          <a:xfrm>
            <a:off x="4305300" y="3581400"/>
            <a:ext cx="3276600" cy="2324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Model policy evolution and bitemporal validity. Combine hybrid retrieval with an applicability resolver, conflict classification, evidence-grounded generation, claim verification and controlled abstention.</a:t>
            </a:r>
          </a:p>
        </p:txBody>
      </p:sp>
      <p:sp>
        <p:nvSpPr>
          <p:cNvPr id="16" name="project1-foundation-callout-2">
            <a:extLst>
              <a:ext uri="{FF2B5EF4-FFF2-40B4-BE49-F238E27FC236}">
                <a16:creationId xmlns:a16="http://schemas.microsoft.com/office/drawing/2014/main" id="{FBCA31B7-6F3F-457A-854C-287CBC707569}"/>
              </a:ext>
            </a:extLst>
          </p:cNvPr>
          <p:cNvSpPr>
            <a:spLocks noGrp="1"/>
          </p:cNvSpPr>
          <p:nvPr/>
        </p:nvSpPr>
        <p:spPr>
          <a:xfrm>
            <a:off x="4305300" y="6038850"/>
            <a:ext cx="3276600" cy="323850"/>
          </a:xfrm>
          <a:prstGeom prst="rect">
            <a:avLst/>
          </a:prstGeom>
        </p:spPr>
        <p:txBody>
          <a:bodyPr wrap="square" lIns="0" tIns="0" rIns="0" bIns="0" anchor="t">
            <a:normAutofit fontScale="98225"/>
          </a:bodyPr>
          <a:lstStyle/>
          <a:p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Decision rule: verify first, answer second</a:t>
            </a:r>
          </a:p>
        </p:txBody>
      </p:sp>
      <p:sp>
        <p:nvSpPr>
          <p:cNvPr id="17" name="project1-foundation-divider-2">
            <a:extLst>
              <a:ext uri="{FF2B5EF4-FFF2-40B4-BE49-F238E27FC236}">
                <a16:creationId xmlns:a16="http://schemas.microsoft.com/office/drawing/2014/main" id="{0E9949E8-BE5F-463F-BEF1-734C019B624B}"/>
              </a:ext>
            </a:extLst>
          </p:cNvPr>
          <p:cNvSpPr>
            <a:spLocks noGrp="1"/>
          </p:cNvSpPr>
          <p:nvPr/>
        </p:nvSpPr>
        <p:spPr>
          <a:xfrm>
            <a:off x="7886700" y="1981200"/>
            <a:ext cx="9525" cy="43624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project1-foundation-number-3">
            <a:extLst>
              <a:ext uri="{FF2B5EF4-FFF2-40B4-BE49-F238E27FC236}">
                <a16:creationId xmlns:a16="http://schemas.microsoft.com/office/drawing/2014/main" id="{2409C0C2-A913-42BB-89D3-3899D4757419}"/>
              </a:ext>
            </a:extLst>
          </p:cNvPr>
          <p:cNvSpPr>
            <a:spLocks noGrp="1"/>
          </p:cNvSpPr>
          <p:nvPr/>
        </p:nvSpPr>
        <p:spPr>
          <a:xfrm>
            <a:off x="8172450" y="1981200"/>
            <a:ext cx="8763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9" name="project1-foundation-heading-3">
            <a:extLst>
              <a:ext uri="{FF2B5EF4-FFF2-40B4-BE49-F238E27FC236}">
                <a16:creationId xmlns:a16="http://schemas.microsoft.com/office/drawing/2014/main" id="{0BAF9CE3-2442-4C7F-AC29-63DFA8EB75D1}"/>
              </a:ext>
            </a:extLst>
          </p:cNvPr>
          <p:cNvSpPr>
            <a:spLocks noGrp="1"/>
          </p:cNvSpPr>
          <p:nvPr/>
        </p:nvSpPr>
        <p:spPr>
          <a:xfrm>
            <a:off x="8172450" y="2571750"/>
            <a:ext cx="32766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Dataset</a:t>
            </a:r>
          </a:p>
        </p:txBody>
      </p:sp>
      <p:sp>
        <p:nvSpPr>
          <p:cNvPr id="20" name="project1-foundation-column-rule-3">
            <a:extLst>
              <a:ext uri="{FF2B5EF4-FFF2-40B4-BE49-F238E27FC236}">
                <a16:creationId xmlns:a16="http://schemas.microsoft.com/office/drawing/2014/main" id="{FBF05E5A-F66D-4AD4-9699-F4A3FFA421F0}"/>
              </a:ext>
            </a:extLst>
          </p:cNvPr>
          <p:cNvSpPr>
            <a:spLocks noGrp="1"/>
          </p:cNvSpPr>
          <p:nvPr/>
        </p:nvSpPr>
        <p:spPr>
          <a:xfrm>
            <a:off x="8172450" y="3352800"/>
            <a:ext cx="3276600" cy="28575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1" name="project1-foundation-body-3">
            <a:extLst>
              <a:ext uri="{FF2B5EF4-FFF2-40B4-BE49-F238E27FC236}">
                <a16:creationId xmlns:a16="http://schemas.microsoft.com/office/drawing/2014/main" id="{5E09599E-3430-48DD-826A-0578FDA3AE70}"/>
              </a:ext>
            </a:extLst>
          </p:cNvPr>
          <p:cNvSpPr>
            <a:spLocks noGrp="1"/>
          </p:cNvSpPr>
          <p:nvPr/>
        </p:nvSpPr>
        <p:spPr>
          <a:xfrm>
            <a:off x="8172450" y="3581400"/>
            <a:ext cx="3276600" cy="2324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PolicyEvoBench targets 20–30 products across 5+ insurers, 250–400 clause instances and 600–900 Q&amp;A cases. It mixes real documents with controlled synthetic endorsements and expert adjudication.</a:t>
            </a:r>
          </a:p>
        </p:txBody>
      </p:sp>
      <p:sp>
        <p:nvSpPr>
          <p:cNvPr id="22" name="project1-foundation-callout-3">
            <a:extLst>
              <a:ext uri="{FF2B5EF4-FFF2-40B4-BE49-F238E27FC236}">
                <a16:creationId xmlns:a16="http://schemas.microsoft.com/office/drawing/2014/main" id="{3662838E-3870-4583-83A5-52DCFFE72136}"/>
              </a:ext>
            </a:extLst>
          </p:cNvPr>
          <p:cNvSpPr>
            <a:spLocks noGrp="1"/>
          </p:cNvSpPr>
          <p:nvPr/>
        </p:nvSpPr>
        <p:spPr>
          <a:xfrm>
            <a:off x="8172450" y="6038850"/>
            <a:ext cx="32766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60–70% real  •  30–40% synthetic</a:t>
            </a:r>
          </a:p>
        </p:txBody>
      </p:sp>
      <p:sp>
        <p:nvSpPr>
          <p:cNvPr id="23" name="slide-number-2">
            <a:extLst>
              <a:ext uri="{FF2B5EF4-FFF2-40B4-BE49-F238E27FC236}">
                <a16:creationId xmlns:a16="http://schemas.microsoft.com/office/drawing/2014/main" id="{79DCAD03-FFCC-4307-8267-409AC2E62B8D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381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789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roject1-delivery-accent">
            <a:extLst>
              <a:ext uri="{FF2B5EF4-FFF2-40B4-BE49-F238E27FC236}">
                <a16:creationId xmlns:a16="http://schemas.microsoft.com/office/drawing/2014/main" id="{787F10B7-0CDA-4870-9C08-3788019E25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" name="project1-delivery-kicker">
            <a:extLst>
              <a:ext uri="{FF2B5EF4-FFF2-40B4-BE49-F238E27FC236}">
                <a16:creationId xmlns:a16="http://schemas.microsoft.com/office/drawing/2014/main" id="{77612770-5F7B-48EB-A1CC-BA1535C240D6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3429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dirty="0"/>
              <a:t>PROJECT 01  </a:t>
            </a:r>
          </a:p>
        </p:txBody>
      </p:sp>
      <p:sp>
        <p:nvSpPr>
          <p:cNvPr id="3" name="project1-delivery-title">
            <a:extLst>
              <a:ext uri="{FF2B5EF4-FFF2-40B4-BE49-F238E27FC236}">
                <a16:creationId xmlns:a16="http://schemas.microsoft.com/office/drawing/2014/main" id="{F0B6994B-DCD2-446D-8D3A-504B5ADA224B}"/>
              </a:ext>
            </a:extLst>
          </p:cNvPr>
          <p:cNvSpPr>
            <a:spLocks noGrp="1"/>
          </p:cNvSpPr>
          <p:nvPr/>
        </p:nvSpPr>
        <p:spPr>
          <a:xfrm>
            <a:off x="438150" y="647700"/>
            <a:ext cx="11087100" cy="533400"/>
          </a:xfrm>
          <a:prstGeom prst="rect">
            <a:avLst/>
          </a:prstGeom>
        </p:spPr>
        <p:txBody>
          <a:bodyPr wrap="square" lIns="0" tIns="0" rIns="0" bIns="0" anchor="t">
            <a:normAutofit fontScale="74582" lnSpcReduction="20000"/>
          </a:bodyPr>
          <a:lstStyle/>
          <a:p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dirty="0"/>
              <a:t>Project 1 verifies evidence before policy answers are generated</a:t>
            </a:r>
          </a:p>
        </p:txBody>
      </p:sp>
      <p:sp>
        <p:nvSpPr>
          <p:cNvPr id="4" name="project1-delivery-subtitle">
            <a:extLst>
              <a:ext uri="{FF2B5EF4-FFF2-40B4-BE49-F238E27FC236}">
                <a16:creationId xmlns:a16="http://schemas.microsoft.com/office/drawing/2014/main" id="{2DDF9018-AB1A-4B13-B221-9E27A6D0B08D}"/>
              </a:ext>
            </a:extLst>
          </p:cNvPr>
          <p:cNvSpPr>
            <a:spLocks noGrp="1"/>
          </p:cNvSpPr>
          <p:nvPr/>
        </p:nvSpPr>
        <p:spPr>
          <a:xfrm>
            <a:off x="438150" y="1000125"/>
            <a:ext cx="113157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The stack preserves provenance while the output remains traceable to the applicable clause.</a:t>
            </a:r>
          </a:p>
        </p:txBody>
      </p:sp>
      <p:sp>
        <p:nvSpPr>
          <p:cNvPr id="5" name="project1-delivery-top-rule">
            <a:extLst>
              <a:ext uri="{FF2B5EF4-FFF2-40B4-BE49-F238E27FC236}">
                <a16:creationId xmlns:a16="http://schemas.microsoft.com/office/drawing/2014/main" id="{8CB62E8A-6661-4A97-AA9A-EF4B5F7C90B0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113157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project1-delivery-number-4">
            <a:extLst>
              <a:ext uri="{FF2B5EF4-FFF2-40B4-BE49-F238E27FC236}">
                <a16:creationId xmlns:a16="http://schemas.microsoft.com/office/drawing/2014/main" id="{97D967C2-597E-46E7-A32B-B405D25F2C78}"/>
              </a:ext>
            </a:extLst>
          </p:cNvPr>
          <p:cNvSpPr>
            <a:spLocks noGrp="1"/>
          </p:cNvSpPr>
          <p:nvPr/>
        </p:nvSpPr>
        <p:spPr>
          <a:xfrm>
            <a:off x="438150" y="2000250"/>
            <a:ext cx="85725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7" name="project1-delivery-left-heading">
            <a:extLst>
              <a:ext uri="{FF2B5EF4-FFF2-40B4-BE49-F238E27FC236}">
                <a16:creationId xmlns:a16="http://schemas.microsoft.com/office/drawing/2014/main" id="{7BBC908D-5E4A-46A8-89EC-BD89A8E353E8}"/>
              </a:ext>
            </a:extLst>
          </p:cNvPr>
          <p:cNvSpPr>
            <a:spLocks noGrp="1"/>
          </p:cNvSpPr>
          <p:nvPr/>
        </p:nvSpPr>
        <p:spPr>
          <a:xfrm>
            <a:off x="438150" y="2590800"/>
            <a:ext cx="51435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Technical stack</a:t>
            </a:r>
          </a:p>
        </p:txBody>
      </p:sp>
      <p:sp>
        <p:nvSpPr>
          <p:cNvPr id="8" name="project1-delivery-left-rule">
            <a:extLst>
              <a:ext uri="{FF2B5EF4-FFF2-40B4-BE49-F238E27FC236}">
                <a16:creationId xmlns:a16="http://schemas.microsoft.com/office/drawing/2014/main" id="{284A7050-086E-4C63-81BB-7528F1CE9E0B}"/>
              </a:ext>
            </a:extLst>
          </p:cNvPr>
          <p:cNvSpPr>
            <a:spLocks noGrp="1"/>
          </p:cNvSpPr>
          <p:nvPr/>
        </p:nvSpPr>
        <p:spPr>
          <a:xfrm>
            <a:off x="438150" y="3181350"/>
            <a:ext cx="5143500" cy="28575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9" name="project1-delivery-left-body">
            <a:extLst>
              <a:ext uri="{FF2B5EF4-FFF2-40B4-BE49-F238E27FC236}">
                <a16:creationId xmlns:a16="http://schemas.microsoft.com/office/drawing/2014/main" id="{42DA43AF-7641-4688-B4EA-D7F5DC755681}"/>
              </a:ext>
            </a:extLst>
          </p:cNvPr>
          <p:cNvSpPr>
            <a:spLocks noGrp="1"/>
          </p:cNvSpPr>
          <p:nvPr/>
        </p:nvSpPr>
        <p:spPr>
          <a:xfrm>
            <a:off x="438150" y="3429000"/>
            <a:ext cx="5143500" cy="2247900"/>
          </a:xfrm>
          <a:prstGeom prst="rect">
            <a:avLst/>
          </a:prstGeom>
        </p:spPr>
        <p:txBody>
          <a:bodyPr wrap="square" lIns="0" tIns="0" rIns="0" bIns="0" anchor="t">
            <a:normAutofit fontScale="93651"/>
          </a:bodyPr>
          <a:lstStyle/>
          <a:p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INGEST  Python 3.11+, PyMuPDF/pdfplumber, OCR, Camelot/Tabula
RETRIEVE  PostgreSQL + pgvector, BM25, sentence embeddings, Reciprocal Rank Fusion, cross-encoder reranking
RESOLVE &amp; SERVE  Python/SQL rules, NetworkX, controlled LLM, NLI verification, FastAPI/Streamlit, Docker/DVC/MLflow/pytest</a:t>
            </a:r>
          </a:p>
        </p:txBody>
      </p:sp>
      <p:sp>
        <p:nvSpPr>
          <p:cNvPr id="10" name="project1-delivery-middle-rule">
            <a:extLst>
              <a:ext uri="{FF2B5EF4-FFF2-40B4-BE49-F238E27FC236}">
                <a16:creationId xmlns:a16="http://schemas.microsoft.com/office/drawing/2014/main" id="{97B1E465-8B9A-44FE-8257-290F238F75A8}"/>
              </a:ext>
            </a:extLst>
          </p:cNvPr>
          <p:cNvSpPr>
            <a:spLocks noGrp="1"/>
          </p:cNvSpPr>
          <p:nvPr/>
        </p:nvSpPr>
        <p:spPr>
          <a:xfrm>
            <a:off x="6057900" y="2000250"/>
            <a:ext cx="9525" cy="3676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project1-delivery-number-5">
            <a:extLst>
              <a:ext uri="{FF2B5EF4-FFF2-40B4-BE49-F238E27FC236}">
                <a16:creationId xmlns:a16="http://schemas.microsoft.com/office/drawing/2014/main" id="{5922F76D-DE5B-400F-B8B4-37F67732566D}"/>
              </a:ext>
            </a:extLst>
          </p:cNvPr>
          <p:cNvSpPr>
            <a:spLocks noGrp="1"/>
          </p:cNvSpPr>
          <p:nvPr/>
        </p:nvSpPr>
        <p:spPr>
          <a:xfrm>
            <a:off x="6515100" y="2000250"/>
            <a:ext cx="85725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2" name="project1-delivery-right-heading">
            <a:extLst>
              <a:ext uri="{FF2B5EF4-FFF2-40B4-BE49-F238E27FC236}">
                <a16:creationId xmlns:a16="http://schemas.microsoft.com/office/drawing/2014/main" id="{DF652228-CD64-4DA9-ADB9-0D8CA01A5BD9}"/>
              </a:ext>
            </a:extLst>
          </p:cNvPr>
          <p:cNvSpPr>
            <a:spLocks noGrp="1"/>
          </p:cNvSpPr>
          <p:nvPr/>
        </p:nvSpPr>
        <p:spPr>
          <a:xfrm>
            <a:off x="6515100" y="2590800"/>
            <a:ext cx="5238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Expected outcomes</a:t>
            </a:r>
          </a:p>
        </p:txBody>
      </p:sp>
      <p:sp>
        <p:nvSpPr>
          <p:cNvPr id="13" name="project1-delivery-right-rule">
            <a:extLst>
              <a:ext uri="{FF2B5EF4-FFF2-40B4-BE49-F238E27FC236}">
                <a16:creationId xmlns:a16="http://schemas.microsoft.com/office/drawing/2014/main" id="{C6A2C2FB-3BB4-46E5-9880-D052D3604ACC}"/>
              </a:ext>
            </a:extLst>
          </p:cNvPr>
          <p:cNvSpPr>
            <a:spLocks noGrp="1"/>
          </p:cNvSpPr>
          <p:nvPr/>
        </p:nvSpPr>
        <p:spPr>
          <a:xfrm>
            <a:off x="6515100" y="3181350"/>
            <a:ext cx="5238750" cy="28575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4" name="project1-delivery-right-body">
            <a:extLst>
              <a:ext uri="{FF2B5EF4-FFF2-40B4-BE49-F238E27FC236}">
                <a16:creationId xmlns:a16="http://schemas.microsoft.com/office/drawing/2014/main" id="{883C0669-30B1-4DB4-8115-A6DA59A04056}"/>
              </a:ext>
            </a:extLst>
          </p:cNvPr>
          <p:cNvSpPr>
            <a:spLocks noGrp="1"/>
          </p:cNvSpPr>
          <p:nvPr/>
        </p:nvSpPr>
        <p:spPr>
          <a:xfrm>
            <a:off x="6515100" y="3429000"/>
            <a:ext cx="5238750" cy="2247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- Applicable clause by policy, date and customer context
- Fewer outdated, superseded or wrong-policy answers
- Explainable amendments, conflicts and verified claims
- Calibrated abstention with human-review escalation
- Expert-validated benchmark and reproducible prototype</a:t>
            </a:r>
          </a:p>
        </p:txBody>
      </p:sp>
      <p:sp>
        <p:nvSpPr>
          <p:cNvPr id="15" name="project1-delivery-bottom-band">
            <a:extLst>
              <a:ext uri="{FF2B5EF4-FFF2-40B4-BE49-F238E27FC236}">
                <a16:creationId xmlns:a16="http://schemas.microsoft.com/office/drawing/2014/main" id="{D657B29C-6927-4F2B-9BF2-0517E996AF5E}"/>
              </a:ext>
            </a:extLst>
          </p:cNvPr>
          <p:cNvSpPr>
            <a:spLocks noGrp="1"/>
          </p:cNvSpPr>
          <p:nvPr/>
        </p:nvSpPr>
        <p:spPr>
          <a:xfrm>
            <a:off x="438150" y="5905500"/>
            <a:ext cx="11315700" cy="514350"/>
          </a:xfrm>
          <a:prstGeom prst="rect">
            <a:avLst/>
          </a:prstGeom>
          <a:solidFill>
            <a:srgbClr val="EAF7FD"/>
          </a:solidFill>
          <a:ln w="0">
            <a:noFill/>
            <a:prstDash val="solid"/>
          </a:ln>
        </p:spPr>
      </p:sp>
      <p:sp>
        <p:nvSpPr>
          <p:cNvPr id="16" name="project1-delivery-bottom-line">
            <a:extLst>
              <a:ext uri="{FF2B5EF4-FFF2-40B4-BE49-F238E27FC236}">
                <a16:creationId xmlns:a16="http://schemas.microsoft.com/office/drawing/2014/main" id="{47EAC2B0-E1CD-4C81-9C9A-E816DC833FFB}"/>
              </a:ext>
            </a:extLst>
          </p:cNvPr>
          <p:cNvSpPr>
            <a:spLocks noGrp="1"/>
          </p:cNvSpPr>
          <p:nvPr/>
        </p:nvSpPr>
        <p:spPr>
          <a:xfrm>
            <a:off x="666750" y="6048375"/>
            <a:ext cx="10858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Scope boundary: informational decision support — not claim approval, medical advice or an insurer decision.</a:t>
            </a:r>
          </a:p>
        </p:txBody>
      </p:sp>
      <p:sp>
        <p:nvSpPr>
          <p:cNvPr id="17" name="slide-number-3">
            <a:extLst>
              <a:ext uri="{FF2B5EF4-FFF2-40B4-BE49-F238E27FC236}">
                <a16:creationId xmlns:a16="http://schemas.microsoft.com/office/drawing/2014/main" id="{AE1FAB96-8D63-4A32-8F5B-6C589534FE3C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381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0883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roject2-foundation-accent">
            <a:extLst>
              <a:ext uri="{FF2B5EF4-FFF2-40B4-BE49-F238E27FC236}">
                <a16:creationId xmlns:a16="http://schemas.microsoft.com/office/drawing/2014/main" id="{4D475758-E027-4599-82F6-C8262D747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project2-foundation-kicker">
            <a:extLst>
              <a:ext uri="{FF2B5EF4-FFF2-40B4-BE49-F238E27FC236}">
                <a16:creationId xmlns:a16="http://schemas.microsoft.com/office/drawing/2014/main" id="{596259C6-96B7-4EBA-B19A-EE0EB74F443F}"/>
              </a:ext>
            </a:extLst>
          </p:cNvPr>
          <p:cNvSpPr>
            <a:spLocks noGrp="1"/>
          </p:cNvSpPr>
          <p:nvPr/>
        </p:nvSpPr>
        <p:spPr>
          <a:xfrm>
            <a:off x="438150" y="285750"/>
            <a:ext cx="3429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PROJECT 02 </a:t>
            </a:r>
          </a:p>
        </p:txBody>
      </p:sp>
      <p:sp>
        <p:nvSpPr>
          <p:cNvPr id="3" name="project2-foundation-title">
            <a:extLst>
              <a:ext uri="{FF2B5EF4-FFF2-40B4-BE49-F238E27FC236}">
                <a16:creationId xmlns:a16="http://schemas.microsoft.com/office/drawing/2014/main" id="{BD93BBD7-43BB-444C-9971-62654C98DF2A}"/>
              </a:ext>
            </a:extLst>
          </p:cNvPr>
          <p:cNvSpPr>
            <a:spLocks noGrp="1"/>
          </p:cNvSpPr>
          <p:nvPr/>
        </p:nvSpPr>
        <p:spPr>
          <a:xfrm>
            <a:off x="438150" y="647700"/>
            <a:ext cx="10877550" cy="447675"/>
          </a:xfrm>
          <a:prstGeom prst="rect">
            <a:avLst/>
          </a:prstGeom>
        </p:spPr>
        <p:txBody>
          <a:bodyPr wrap="square" lIns="0" tIns="0" rIns="0" bIns="0" anchor="t">
            <a:normAutofit fontScale="86482" lnSpcReduction="10000"/>
          </a:bodyPr>
          <a:lstStyle/>
          <a:p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ModelSentinel</a:t>
            </a:r>
            <a:r>
              <a:rPr dirty="0"/>
              <a:t> scans model weights before deployment</a:t>
            </a:r>
          </a:p>
        </p:txBody>
      </p:sp>
      <p:sp>
        <p:nvSpPr>
          <p:cNvPr id="4" name="project2-foundation-subtitle">
            <a:extLst>
              <a:ext uri="{FF2B5EF4-FFF2-40B4-BE49-F238E27FC236}">
                <a16:creationId xmlns:a16="http://schemas.microsoft.com/office/drawing/2014/main" id="{02FB44A6-851F-45B4-98B9-E90A29289C84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157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dirty="0"/>
              <a:t>The </a:t>
            </a:r>
            <a:r>
              <a:rPr dirty="0" err="1"/>
              <a:t>ModelMRI</a:t>
            </a:r>
            <a:r>
              <a:rPr dirty="0"/>
              <a:t> prototype inspects numerical and byte-level content without executing untrusted model code.</a:t>
            </a:r>
          </a:p>
        </p:txBody>
      </p:sp>
      <p:sp>
        <p:nvSpPr>
          <p:cNvPr id="5" name="project2-foundation-top-rule">
            <a:extLst>
              <a:ext uri="{FF2B5EF4-FFF2-40B4-BE49-F238E27FC236}">
                <a16:creationId xmlns:a16="http://schemas.microsoft.com/office/drawing/2014/main" id="{5FB51A3A-EC99-41D0-8844-433520DBE9CD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113157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project2-foundation-number-1">
            <a:extLst>
              <a:ext uri="{FF2B5EF4-FFF2-40B4-BE49-F238E27FC236}">
                <a16:creationId xmlns:a16="http://schemas.microsoft.com/office/drawing/2014/main" id="{9FF8D0CE-D583-4E9C-A76F-68784AB931BE}"/>
              </a:ext>
            </a:extLst>
          </p:cNvPr>
          <p:cNvSpPr>
            <a:spLocks noGrp="1"/>
          </p:cNvSpPr>
          <p:nvPr/>
        </p:nvSpPr>
        <p:spPr>
          <a:xfrm>
            <a:off x="438150" y="1981200"/>
            <a:ext cx="8763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project2-foundation-heading-1">
            <a:extLst>
              <a:ext uri="{FF2B5EF4-FFF2-40B4-BE49-F238E27FC236}">
                <a16:creationId xmlns:a16="http://schemas.microsoft.com/office/drawing/2014/main" id="{1B4A0EEF-E74C-4D8F-B88F-BC03EC62D657}"/>
              </a:ext>
            </a:extLst>
          </p:cNvPr>
          <p:cNvSpPr>
            <a:spLocks noGrp="1"/>
          </p:cNvSpPr>
          <p:nvPr/>
        </p:nvSpPr>
        <p:spPr>
          <a:xfrm>
            <a:off x="438150" y="2571750"/>
            <a:ext cx="32766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Problem statement</a:t>
            </a:r>
          </a:p>
        </p:txBody>
      </p:sp>
      <p:sp>
        <p:nvSpPr>
          <p:cNvPr id="8" name="project2-foundation-column-rule-1">
            <a:extLst>
              <a:ext uri="{FF2B5EF4-FFF2-40B4-BE49-F238E27FC236}">
                <a16:creationId xmlns:a16="http://schemas.microsoft.com/office/drawing/2014/main" id="{9278AA59-47D6-4013-A0A6-A8DEA3140E6E}"/>
              </a:ext>
            </a:extLst>
          </p:cNvPr>
          <p:cNvSpPr>
            <a:spLocks noGrp="1"/>
          </p:cNvSpPr>
          <p:nvPr/>
        </p:nvSpPr>
        <p:spPr>
          <a:xfrm>
            <a:off x="438150" y="3352800"/>
            <a:ext cx="32766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project2-foundation-body-1">
            <a:extLst>
              <a:ext uri="{FF2B5EF4-FFF2-40B4-BE49-F238E27FC236}">
                <a16:creationId xmlns:a16="http://schemas.microsoft.com/office/drawing/2014/main" id="{9AB55FB0-3F95-4DD6-A5B9-2E5D793DD7DD}"/>
              </a:ext>
            </a:extLst>
          </p:cNvPr>
          <p:cNvSpPr>
            <a:spLocks noGrp="1"/>
          </p:cNvSpPr>
          <p:nvPr/>
        </p:nvSpPr>
        <p:spPr>
          <a:xfrm>
            <a:off x="438150" y="3581400"/>
            <a:ext cx="3276600" cy="2324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 structurally valid model can hide suspicious patterns in low-order bytes or selected tensor regions. Antivirus, signatures, pickle scanners and SafeTensors do not establish that weight content is benign.</a:t>
            </a:r>
          </a:p>
        </p:txBody>
      </p:sp>
      <p:sp>
        <p:nvSpPr>
          <p:cNvPr id="10" name="project2-foundation-callout-1">
            <a:extLst>
              <a:ext uri="{FF2B5EF4-FFF2-40B4-BE49-F238E27FC236}">
                <a16:creationId xmlns:a16="http://schemas.microsoft.com/office/drawing/2014/main" id="{D7BE9029-254E-4C92-9259-1F0DC5319BC2}"/>
              </a:ext>
            </a:extLst>
          </p:cNvPr>
          <p:cNvSpPr>
            <a:spLocks noGrp="1"/>
          </p:cNvSpPr>
          <p:nvPr/>
        </p:nvSpPr>
        <p:spPr>
          <a:xfrm>
            <a:off x="438150" y="6038850"/>
            <a:ext cx="32766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Gap: file validity is not content safety</a:t>
            </a:r>
          </a:p>
        </p:txBody>
      </p:sp>
      <p:sp>
        <p:nvSpPr>
          <p:cNvPr id="11" name="project2-foundation-divider-1">
            <a:extLst>
              <a:ext uri="{FF2B5EF4-FFF2-40B4-BE49-F238E27FC236}">
                <a16:creationId xmlns:a16="http://schemas.microsoft.com/office/drawing/2014/main" id="{F90DE56D-559D-484F-834B-2039A59F49CD}"/>
              </a:ext>
            </a:extLst>
          </p:cNvPr>
          <p:cNvSpPr>
            <a:spLocks noGrp="1"/>
          </p:cNvSpPr>
          <p:nvPr/>
        </p:nvSpPr>
        <p:spPr>
          <a:xfrm>
            <a:off x="4019550" y="1981200"/>
            <a:ext cx="9525" cy="43624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project2-foundation-number-2">
            <a:extLst>
              <a:ext uri="{FF2B5EF4-FFF2-40B4-BE49-F238E27FC236}">
                <a16:creationId xmlns:a16="http://schemas.microsoft.com/office/drawing/2014/main" id="{625BF2E9-06B8-43AA-A55F-22F66E2990A2}"/>
              </a:ext>
            </a:extLst>
          </p:cNvPr>
          <p:cNvSpPr>
            <a:spLocks noGrp="1"/>
          </p:cNvSpPr>
          <p:nvPr/>
        </p:nvSpPr>
        <p:spPr>
          <a:xfrm>
            <a:off x="4305300" y="1981200"/>
            <a:ext cx="8763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project2-foundation-heading-2">
            <a:extLst>
              <a:ext uri="{FF2B5EF4-FFF2-40B4-BE49-F238E27FC236}">
                <a16:creationId xmlns:a16="http://schemas.microsoft.com/office/drawing/2014/main" id="{548A1012-FE8D-467F-B83A-7CB9D9453706}"/>
              </a:ext>
            </a:extLst>
          </p:cNvPr>
          <p:cNvSpPr>
            <a:spLocks noGrp="1"/>
          </p:cNvSpPr>
          <p:nvPr/>
        </p:nvSpPr>
        <p:spPr>
          <a:xfrm>
            <a:off x="4305300" y="2571750"/>
            <a:ext cx="32766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Objectives</a:t>
            </a:r>
          </a:p>
        </p:txBody>
      </p:sp>
      <p:sp>
        <p:nvSpPr>
          <p:cNvPr id="14" name="project2-foundation-column-rule-2">
            <a:extLst>
              <a:ext uri="{FF2B5EF4-FFF2-40B4-BE49-F238E27FC236}">
                <a16:creationId xmlns:a16="http://schemas.microsoft.com/office/drawing/2014/main" id="{4AE9EE62-911B-4ECB-A7E0-F563E319BFEB}"/>
              </a:ext>
            </a:extLst>
          </p:cNvPr>
          <p:cNvSpPr>
            <a:spLocks noGrp="1"/>
          </p:cNvSpPr>
          <p:nvPr/>
        </p:nvSpPr>
        <p:spPr>
          <a:xfrm>
            <a:off x="4305300" y="3352800"/>
            <a:ext cx="32766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5" name="project2-foundation-body-2">
            <a:extLst>
              <a:ext uri="{FF2B5EF4-FFF2-40B4-BE49-F238E27FC236}">
                <a16:creationId xmlns:a16="http://schemas.microsoft.com/office/drawing/2014/main" id="{B6D101F5-8D56-4098-879E-922F710A4713}"/>
              </a:ext>
            </a:extLst>
          </p:cNvPr>
          <p:cNvSpPr>
            <a:spLocks noGrp="1"/>
          </p:cNvSpPr>
          <p:nvPr/>
        </p:nvSpPr>
        <p:spPr>
          <a:xfrm>
            <a:off x="4305300" y="3581400"/>
            <a:ext cx="3276600" cy="2324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Scan without inference, detect abnormal patterns, localize the tensor and block, explain CLEAN / REVIEW / SUSPICIOUS decisions, generate enterprise reports and expand to broader model formats.</a:t>
            </a:r>
          </a:p>
        </p:txBody>
      </p:sp>
      <p:sp>
        <p:nvSpPr>
          <p:cNvPr id="16" name="project2-foundation-callout-2">
            <a:extLst>
              <a:ext uri="{FF2B5EF4-FFF2-40B4-BE49-F238E27FC236}">
                <a16:creationId xmlns:a16="http://schemas.microsoft.com/office/drawing/2014/main" id="{8C167BC5-20BF-4F05-8127-F787FFE77CFC}"/>
              </a:ext>
            </a:extLst>
          </p:cNvPr>
          <p:cNvSpPr>
            <a:spLocks noGrp="1"/>
          </p:cNvSpPr>
          <p:nvPr/>
        </p:nvSpPr>
        <p:spPr>
          <a:xfrm>
            <a:off x="4305300" y="6038850"/>
            <a:ext cx="3276600" cy="323850"/>
          </a:xfrm>
          <a:prstGeom prst="rect">
            <a:avLst/>
          </a:prstGeom>
        </p:spPr>
        <p:txBody>
          <a:bodyPr wrap="square" lIns="0" tIns="0" rIns="0" bIns="0" anchor="t">
            <a:normAutofit fontScale="88686"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Actions: ALLOW  •  REVIEW  •  QUARANTINE</a:t>
            </a:r>
          </a:p>
        </p:txBody>
      </p:sp>
      <p:sp>
        <p:nvSpPr>
          <p:cNvPr id="17" name="project2-foundation-divider-2">
            <a:extLst>
              <a:ext uri="{FF2B5EF4-FFF2-40B4-BE49-F238E27FC236}">
                <a16:creationId xmlns:a16="http://schemas.microsoft.com/office/drawing/2014/main" id="{757BCF0B-B365-45EE-8012-5024CC2B37CD}"/>
              </a:ext>
            </a:extLst>
          </p:cNvPr>
          <p:cNvSpPr>
            <a:spLocks noGrp="1"/>
          </p:cNvSpPr>
          <p:nvPr/>
        </p:nvSpPr>
        <p:spPr>
          <a:xfrm>
            <a:off x="7886700" y="1981200"/>
            <a:ext cx="9525" cy="43624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project2-foundation-number-3">
            <a:extLst>
              <a:ext uri="{FF2B5EF4-FFF2-40B4-BE49-F238E27FC236}">
                <a16:creationId xmlns:a16="http://schemas.microsoft.com/office/drawing/2014/main" id="{F8407697-A914-407D-A1FC-9BA83F88D0B0}"/>
              </a:ext>
            </a:extLst>
          </p:cNvPr>
          <p:cNvSpPr>
            <a:spLocks noGrp="1"/>
          </p:cNvSpPr>
          <p:nvPr/>
        </p:nvSpPr>
        <p:spPr>
          <a:xfrm>
            <a:off x="8172450" y="1981200"/>
            <a:ext cx="8763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9" name="project2-foundation-heading-3">
            <a:extLst>
              <a:ext uri="{FF2B5EF4-FFF2-40B4-BE49-F238E27FC236}">
                <a16:creationId xmlns:a16="http://schemas.microsoft.com/office/drawing/2014/main" id="{39542350-7ABD-4D63-9E0D-3CEEC294D92C}"/>
              </a:ext>
            </a:extLst>
          </p:cNvPr>
          <p:cNvSpPr>
            <a:spLocks noGrp="1"/>
          </p:cNvSpPr>
          <p:nvPr/>
        </p:nvSpPr>
        <p:spPr>
          <a:xfrm>
            <a:off x="8172450" y="2571750"/>
            <a:ext cx="32766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Dataset</a:t>
            </a:r>
          </a:p>
        </p:txBody>
      </p:sp>
      <p:sp>
        <p:nvSpPr>
          <p:cNvPr id="20" name="project2-foundation-column-rule-3">
            <a:extLst>
              <a:ext uri="{FF2B5EF4-FFF2-40B4-BE49-F238E27FC236}">
                <a16:creationId xmlns:a16="http://schemas.microsoft.com/office/drawing/2014/main" id="{D7858103-1C4C-4B15-B3D5-E5C635D6FD5A}"/>
              </a:ext>
            </a:extLst>
          </p:cNvPr>
          <p:cNvSpPr>
            <a:spLocks noGrp="1"/>
          </p:cNvSpPr>
          <p:nvPr/>
        </p:nvSpPr>
        <p:spPr>
          <a:xfrm>
            <a:off x="8172450" y="3352800"/>
            <a:ext cx="32766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1" name="project2-foundation-body-3">
            <a:extLst>
              <a:ext uri="{FF2B5EF4-FFF2-40B4-BE49-F238E27FC236}">
                <a16:creationId xmlns:a16="http://schemas.microsoft.com/office/drawing/2014/main" id="{0ECCEFEE-3C3C-4825-A95F-624B8322CBE0}"/>
              </a:ext>
            </a:extLst>
          </p:cNvPr>
          <p:cNvSpPr>
            <a:spLocks noGrp="1"/>
          </p:cNvSpPr>
          <p:nvPr/>
        </p:nvSpPr>
        <p:spPr>
          <a:xfrm>
            <a:off x="8172450" y="3581400"/>
            <a:ext cx="3276600" cy="2324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A deterministic synthetic SafeTensors set contains 20 artifacts, 580 tensor blocks and 10 positive blocks. Each block has 4,096 values and 25 features; harmless canaries provide safe ground truth.</a:t>
            </a:r>
          </a:p>
        </p:txBody>
      </p:sp>
      <p:sp>
        <p:nvSpPr>
          <p:cNvPr id="22" name="project2-foundation-callout-3">
            <a:extLst>
              <a:ext uri="{FF2B5EF4-FFF2-40B4-BE49-F238E27FC236}">
                <a16:creationId xmlns:a16="http://schemas.microsoft.com/office/drawing/2014/main" id="{F552BF08-173E-45E0-8217-3EF79BF30F82}"/>
              </a:ext>
            </a:extLst>
          </p:cNvPr>
          <p:cNvSpPr>
            <a:spLocks noGrp="1"/>
          </p:cNvSpPr>
          <p:nvPr/>
        </p:nvSpPr>
        <p:spPr>
          <a:xfrm>
            <a:off x="8172450" y="6038850"/>
            <a:ext cx="32766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1.724% positive blocks  •  12/4/4 split</a:t>
            </a:r>
          </a:p>
        </p:txBody>
      </p:sp>
      <p:sp>
        <p:nvSpPr>
          <p:cNvPr id="23" name="slide-number-4">
            <a:extLst>
              <a:ext uri="{FF2B5EF4-FFF2-40B4-BE49-F238E27FC236}">
                <a16:creationId xmlns:a16="http://schemas.microsoft.com/office/drawing/2014/main" id="{E000639D-2EFC-4ADF-973C-DB537573FBC5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381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17720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roject2-delivery-accent">
            <a:extLst>
              <a:ext uri="{FF2B5EF4-FFF2-40B4-BE49-F238E27FC236}">
                <a16:creationId xmlns:a16="http://schemas.microsoft.com/office/drawing/2014/main" id="{4D50706B-3A11-4F0D-831B-7357C118E0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project2-delivery-kicker">
            <a:extLst>
              <a:ext uri="{FF2B5EF4-FFF2-40B4-BE49-F238E27FC236}">
                <a16:creationId xmlns:a16="http://schemas.microsoft.com/office/drawing/2014/main" id="{59DE627B-5B0E-40BD-9D74-164F092096D6}"/>
              </a:ext>
            </a:extLst>
          </p:cNvPr>
          <p:cNvSpPr>
            <a:spLocks noGrp="1"/>
          </p:cNvSpPr>
          <p:nvPr/>
        </p:nvSpPr>
        <p:spPr>
          <a:xfrm>
            <a:off x="438150" y="295275"/>
            <a:ext cx="34290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PROJECT 02</a:t>
            </a:r>
          </a:p>
        </p:txBody>
      </p:sp>
      <p:sp>
        <p:nvSpPr>
          <p:cNvPr id="3" name="project2-delivery-title">
            <a:extLst>
              <a:ext uri="{FF2B5EF4-FFF2-40B4-BE49-F238E27FC236}">
                <a16:creationId xmlns:a16="http://schemas.microsoft.com/office/drawing/2014/main" id="{EC19851B-1BEC-413A-BCED-05F69F24AB71}"/>
              </a:ext>
            </a:extLst>
          </p:cNvPr>
          <p:cNvSpPr>
            <a:spLocks noGrp="1"/>
          </p:cNvSpPr>
          <p:nvPr/>
        </p:nvSpPr>
        <p:spPr>
          <a:xfrm>
            <a:off x="438150" y="647700"/>
            <a:ext cx="11315700" cy="609600"/>
          </a:xfrm>
          <a:prstGeom prst="rect">
            <a:avLst/>
          </a:prstGeom>
        </p:spPr>
        <p:txBody>
          <a:bodyPr wrap="square" lIns="0" tIns="0" rIns="0" bIns="0" anchor="t">
            <a:normAutofit fontScale="99876"/>
          </a:bodyPr>
          <a:lstStyle/>
          <a:p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It </a:t>
            </a:r>
            <a:r>
              <a:rPr dirty="0"/>
              <a:t>converts anomalous model weights into action</a:t>
            </a:r>
          </a:p>
        </p:txBody>
      </p:sp>
      <p:sp>
        <p:nvSpPr>
          <p:cNvPr id="4" name="project2-delivery-subtitle">
            <a:extLst>
              <a:ext uri="{FF2B5EF4-FFF2-40B4-BE49-F238E27FC236}">
                <a16:creationId xmlns:a16="http://schemas.microsoft.com/office/drawing/2014/main" id="{20BD475F-A76F-4495-B375-6E20919601AD}"/>
              </a:ext>
            </a:extLst>
          </p:cNvPr>
          <p:cNvSpPr>
            <a:spLocks noGrp="1"/>
          </p:cNvSpPr>
          <p:nvPr/>
        </p:nvSpPr>
        <p:spPr>
          <a:xfrm>
            <a:off x="438150" y="1295400"/>
            <a:ext cx="113157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dirty="0"/>
              <a:t>Numerical, byte and compression signals are aggregated into an auditable artifact-level decision.</a:t>
            </a:r>
          </a:p>
        </p:txBody>
      </p:sp>
      <p:sp>
        <p:nvSpPr>
          <p:cNvPr id="5" name="project2-delivery-top-rule">
            <a:extLst>
              <a:ext uri="{FF2B5EF4-FFF2-40B4-BE49-F238E27FC236}">
                <a16:creationId xmlns:a16="http://schemas.microsoft.com/office/drawing/2014/main" id="{4BB52BF1-DB20-44CC-BAFC-4735CD658834}"/>
              </a:ext>
            </a:extLst>
          </p:cNvPr>
          <p:cNvSpPr>
            <a:spLocks noGrp="1"/>
          </p:cNvSpPr>
          <p:nvPr/>
        </p:nvSpPr>
        <p:spPr>
          <a:xfrm>
            <a:off x="438150" y="1752600"/>
            <a:ext cx="113157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project2-delivery-number-4">
            <a:extLst>
              <a:ext uri="{FF2B5EF4-FFF2-40B4-BE49-F238E27FC236}">
                <a16:creationId xmlns:a16="http://schemas.microsoft.com/office/drawing/2014/main" id="{8A11832B-DC96-4861-9027-36E4F31688C6}"/>
              </a:ext>
            </a:extLst>
          </p:cNvPr>
          <p:cNvSpPr>
            <a:spLocks noGrp="1"/>
          </p:cNvSpPr>
          <p:nvPr/>
        </p:nvSpPr>
        <p:spPr>
          <a:xfrm>
            <a:off x="438150" y="2000250"/>
            <a:ext cx="85725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7" name="project2-delivery-left-heading">
            <a:extLst>
              <a:ext uri="{FF2B5EF4-FFF2-40B4-BE49-F238E27FC236}">
                <a16:creationId xmlns:a16="http://schemas.microsoft.com/office/drawing/2014/main" id="{F650ADDC-E47D-4971-A006-D88C8E0CE05A}"/>
              </a:ext>
            </a:extLst>
          </p:cNvPr>
          <p:cNvSpPr>
            <a:spLocks noGrp="1"/>
          </p:cNvSpPr>
          <p:nvPr/>
        </p:nvSpPr>
        <p:spPr>
          <a:xfrm>
            <a:off x="438150" y="2590800"/>
            <a:ext cx="51435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Technical stack</a:t>
            </a:r>
          </a:p>
        </p:txBody>
      </p:sp>
      <p:sp>
        <p:nvSpPr>
          <p:cNvPr id="8" name="project2-delivery-left-rule">
            <a:extLst>
              <a:ext uri="{FF2B5EF4-FFF2-40B4-BE49-F238E27FC236}">
                <a16:creationId xmlns:a16="http://schemas.microsoft.com/office/drawing/2014/main" id="{232BC318-C869-490C-9F09-A2C4C88199D7}"/>
              </a:ext>
            </a:extLst>
          </p:cNvPr>
          <p:cNvSpPr>
            <a:spLocks noGrp="1"/>
          </p:cNvSpPr>
          <p:nvPr/>
        </p:nvSpPr>
        <p:spPr>
          <a:xfrm>
            <a:off x="438150" y="3181350"/>
            <a:ext cx="514350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project2-delivery-left-body">
            <a:extLst>
              <a:ext uri="{FF2B5EF4-FFF2-40B4-BE49-F238E27FC236}">
                <a16:creationId xmlns:a16="http://schemas.microsoft.com/office/drawing/2014/main" id="{EEE82364-A3C2-4F6A-8407-683BD426F1CF}"/>
              </a:ext>
            </a:extLst>
          </p:cNvPr>
          <p:cNvSpPr>
            <a:spLocks noGrp="1"/>
          </p:cNvSpPr>
          <p:nvPr/>
        </p:nvSpPr>
        <p:spPr>
          <a:xfrm>
            <a:off x="438150" y="3429000"/>
            <a:ext cx="5143500" cy="2247900"/>
          </a:xfrm>
          <a:prstGeom prst="rect">
            <a:avLst/>
          </a:prstGeom>
        </p:spPr>
        <p:txBody>
          <a:bodyPr wrap="square" lIns="0" tIns="0" rIns="0" bIns="0" anchor="t">
            <a:normAutofit fontScale="93651"/>
          </a:bodyPr>
          <a:lstStyle/>
          <a:p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DATA &amp; FORMATS  Python, NumPy, pandas, Pydantic, hashlib, zlib; SafeTensors, CSV/Parquet, JSON/HTML
DETECTION  25 features; median/MAD anomaly detection; class-weighted L2 logistic regression; validation-selected threshold
INTERFACES  CLI, Streamlit, Altair, pytest; planned FastAPI, Docker workers, registry webhooks, SIEM, PostgreSQL and object storage</a:t>
            </a:r>
          </a:p>
        </p:txBody>
      </p:sp>
      <p:sp>
        <p:nvSpPr>
          <p:cNvPr id="10" name="project2-delivery-middle-rule">
            <a:extLst>
              <a:ext uri="{FF2B5EF4-FFF2-40B4-BE49-F238E27FC236}">
                <a16:creationId xmlns:a16="http://schemas.microsoft.com/office/drawing/2014/main" id="{C1515AF1-2620-464A-80C6-C8591088971D}"/>
              </a:ext>
            </a:extLst>
          </p:cNvPr>
          <p:cNvSpPr>
            <a:spLocks noGrp="1"/>
          </p:cNvSpPr>
          <p:nvPr/>
        </p:nvSpPr>
        <p:spPr>
          <a:xfrm>
            <a:off x="6057900" y="2000250"/>
            <a:ext cx="9525" cy="36766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project2-delivery-number-5">
            <a:extLst>
              <a:ext uri="{FF2B5EF4-FFF2-40B4-BE49-F238E27FC236}">
                <a16:creationId xmlns:a16="http://schemas.microsoft.com/office/drawing/2014/main" id="{BE48DFE3-5E2B-499A-9D00-596CF7A9F74E}"/>
              </a:ext>
            </a:extLst>
          </p:cNvPr>
          <p:cNvSpPr>
            <a:spLocks noGrp="1"/>
          </p:cNvSpPr>
          <p:nvPr/>
        </p:nvSpPr>
        <p:spPr>
          <a:xfrm>
            <a:off x="6515100" y="2000250"/>
            <a:ext cx="85725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2" name="project2-delivery-right-heading">
            <a:extLst>
              <a:ext uri="{FF2B5EF4-FFF2-40B4-BE49-F238E27FC236}">
                <a16:creationId xmlns:a16="http://schemas.microsoft.com/office/drawing/2014/main" id="{6B03CDC3-686E-4C8C-9BE4-8E0EB7C2D8CD}"/>
              </a:ext>
            </a:extLst>
          </p:cNvPr>
          <p:cNvSpPr>
            <a:spLocks noGrp="1"/>
          </p:cNvSpPr>
          <p:nvPr/>
        </p:nvSpPr>
        <p:spPr>
          <a:xfrm>
            <a:off x="6515100" y="2590800"/>
            <a:ext cx="52387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Expected outcomes</a:t>
            </a:r>
          </a:p>
        </p:txBody>
      </p:sp>
      <p:sp>
        <p:nvSpPr>
          <p:cNvPr id="13" name="project2-delivery-right-rule">
            <a:extLst>
              <a:ext uri="{FF2B5EF4-FFF2-40B4-BE49-F238E27FC236}">
                <a16:creationId xmlns:a16="http://schemas.microsoft.com/office/drawing/2014/main" id="{52929209-319C-47CF-AE4E-A5F667BA6F51}"/>
              </a:ext>
            </a:extLst>
          </p:cNvPr>
          <p:cNvSpPr>
            <a:spLocks noGrp="1"/>
          </p:cNvSpPr>
          <p:nvPr/>
        </p:nvSpPr>
        <p:spPr>
          <a:xfrm>
            <a:off x="6515100" y="3181350"/>
            <a:ext cx="5238750" cy="285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project2-delivery-right-body">
            <a:extLst>
              <a:ext uri="{FF2B5EF4-FFF2-40B4-BE49-F238E27FC236}">
                <a16:creationId xmlns:a16="http://schemas.microsoft.com/office/drawing/2014/main" id="{90A0166F-BD6F-46D5-A172-CC86887EB6A2}"/>
              </a:ext>
            </a:extLst>
          </p:cNvPr>
          <p:cNvSpPr>
            <a:spLocks noGrp="1"/>
          </p:cNvSpPr>
          <p:nvPr/>
        </p:nvSpPr>
        <p:spPr>
          <a:xfrm>
            <a:off x="6515100" y="3429000"/>
            <a:ext cx="5238750" cy="2247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- Functional pre-deployment, non-executing scanner
- Suspicious-pattern detection and precise tensor/block localization
- Explainable risk scores and policy recommendations
- JSON/HTML audit evidence for enterprise workflows
- Reproducible benchmark and lower investigation effort
- Roadmap for GGUF, quantized models, adapters and shards</a:t>
            </a:r>
          </a:p>
        </p:txBody>
      </p:sp>
      <p:sp>
        <p:nvSpPr>
          <p:cNvPr id="15" name="project2-delivery-bottom-band">
            <a:extLst>
              <a:ext uri="{FF2B5EF4-FFF2-40B4-BE49-F238E27FC236}">
                <a16:creationId xmlns:a16="http://schemas.microsoft.com/office/drawing/2014/main" id="{4DD78012-7A60-42B1-BED7-C85D9C498054}"/>
              </a:ext>
            </a:extLst>
          </p:cNvPr>
          <p:cNvSpPr>
            <a:spLocks noGrp="1"/>
          </p:cNvSpPr>
          <p:nvPr/>
        </p:nvSpPr>
        <p:spPr>
          <a:xfrm>
            <a:off x="438150" y="5905500"/>
            <a:ext cx="11315700" cy="51435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6" name="project2-delivery-bottom-line">
            <a:extLst>
              <a:ext uri="{FF2B5EF4-FFF2-40B4-BE49-F238E27FC236}">
                <a16:creationId xmlns:a16="http://schemas.microsoft.com/office/drawing/2014/main" id="{93E84499-1076-44BE-B086-23AEDC41725C}"/>
              </a:ext>
            </a:extLst>
          </p:cNvPr>
          <p:cNvSpPr>
            <a:spLocks noGrp="1"/>
          </p:cNvSpPr>
          <p:nvPr/>
        </p:nvSpPr>
        <p:spPr>
          <a:xfrm>
            <a:off x="666750" y="6048375"/>
            <a:ext cx="10858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t>Trust is earned before deployment: inspect the evidence, explain the risk and route the action.</a:t>
            </a:r>
          </a:p>
        </p:txBody>
      </p:sp>
      <p:sp>
        <p:nvSpPr>
          <p:cNvPr id="17" name="slide-number-5">
            <a:extLst>
              <a:ext uri="{FF2B5EF4-FFF2-40B4-BE49-F238E27FC236}">
                <a16:creationId xmlns:a16="http://schemas.microsoft.com/office/drawing/2014/main" id="{74117A4D-8885-4DB7-A25E-357B5FB96642}"/>
              </a:ext>
            </a:extLst>
          </p:cNvPr>
          <p:cNvSpPr>
            <a:spLocks noGrp="1"/>
          </p:cNvSpPr>
          <p:nvPr/>
        </p:nvSpPr>
        <p:spPr>
          <a:xfrm>
            <a:off x="11334750" y="6381750"/>
            <a:ext cx="381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404553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Microsoft Office PowerPoint</Application>
  <DocSecurity>0</DocSecurity>
  <PresentationFormat>Widescreen</PresentationFormat>
  <Paragraphs>80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Sasi T</cp:lastModifiedBy>
  <cp:revision>1</cp:revision>
  <dcterms:created xsi:type="dcterms:W3CDTF">2026-08-27T15:34:26Z</dcterms:created>
  <dcterms:modified xsi:type="dcterms:W3CDTF">2026-08-27T15:43:55Z</dcterms:modified>
</cp:coreProperties>
</file>