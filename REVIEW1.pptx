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230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REVIEW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8388" y="1193292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/icons/health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357884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11556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371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PolicyGraph-RAG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847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Temporal, Contradiction-Aware, and Evidence-Verified RAG Framework for Healthcare Insurance Navigation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907792"/>
            <a:ext cx="10515600" cy="0"/>
          </a:xfrm>
          <a:prstGeom prst="line">
            <a:avLst/>
          </a:prstGeom>
          <a:noFill/>
          <a:ln w="12700">
            <a:solidFill>
              <a:srgbClr val="3E4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818388" y="3570732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ppt/icons/ai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735324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00200" y="349300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600200" y="3749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ModelSentinel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Uncertainty-Aware Multi-Agent Forensic Framework for AI Model Supply-Chain Security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22960" y="539496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61C4D"/>
          </a:solidFill>
          <a:ln w="12700">
            <a:solidFill>
              <a:srgbClr val="3E4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1051560" y="55229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Sasi Vardhan Talluri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05156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Vellore   |   Registration ID: T9928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8328" y="1600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cons/health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" y="262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PolicyGraph-RAG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109960" y="109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05156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94944" y="117957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/icons/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129479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8448" y="1216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1828800"/>
            <a:ext cx="484632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information is spread across multiple documents.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change over time through endorsements and renewals.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retrieves relevant clauses but may miss the latest valid clause.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and amendments are difficult to distinguish.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policy interpretation can lead to incorrect claim decisions.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105156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345936" y="11795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pt/icons/objec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150" y="12947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1216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565392" y="1828800"/>
            <a:ext cx="484632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policy evolution model for clauses and versions.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temporal reasoning using effective dates.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hybrid retrieval using keywords and semantic search.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applicability and supersession of clauses.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evidence-backed answers with human-review support.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11091672" cy="2240280"/>
          </a:xfrm>
          <a:prstGeom prst="roundRect">
            <a:avLst>
              <a:gd name="adj" fmla="val 36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96112" y="432511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ppt/icons/id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" y="444855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36192" y="4361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946904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PolicyGraph-RAG turns scattered, ever-changing insurance policy text into a single time-aware source of truth. By modelling how clauses evolve and cross-checking every retrieved passage against its effective date, the system tells a stale clause from the one that legally applies today — and shows its evidence for every answer.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8328" y="1600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cons/health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" y="262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PolicyGraph-RAG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Technical Stack &amp; Expected Outcomes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109960" y="109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05156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94944" y="117957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/icons/data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129479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8448" y="1216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1828800"/>
            <a:ext cx="4846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policy documents from insurer websites and IRDAI.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policies, schedules, renewals and endorsements.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synthetic amendments for testing policy evolution.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PolicyEvoBench with QA pairs and clause annotations.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94944" y="39227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pt/icons/outco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" y="40379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39593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4572000"/>
            <a:ext cx="4846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identification of applicable policy clauses.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policy amendments and supersession.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outdated or incorrect answers.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and traceable responses.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decision-support system for insurance navigation.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9632" y="1051560"/>
            <a:ext cx="5440680" cy="53492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345936" y="117957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ppt/icons/st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150" y="129479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9440" y="1216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400800" y="192024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64008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6912864" y="18653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 development language.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0" y="274320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 txBox="1"/>
          <p:nvPr/>
        </p:nvSpPr>
        <p:spPr>
          <a:xfrm>
            <a:off x="64008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6912864" y="26883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OCR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Extract text from policy documents.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400800" y="356616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 txBox="1"/>
          <p:nvPr/>
        </p:nvSpPr>
        <p:spPr>
          <a:xfrm>
            <a:off x="64008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6912864" y="35112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Store policy data and embeddings.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400800" y="438912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 txBox="1"/>
          <p:nvPr/>
        </p:nvSpPr>
        <p:spPr>
          <a:xfrm>
            <a:off x="640080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912864" y="4334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Sentence Transformers + LLM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Hybrid RAG pipeline.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6400800" y="521208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 txBox="1"/>
          <p:nvPr/>
        </p:nvSpPr>
        <p:spPr>
          <a:xfrm>
            <a:off x="640080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6912864" y="51572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+ Docker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Application deployment and UI.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8328" y="1600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cons/health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" y="262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PolicyGraph-RAG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Pipeline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109960" y="109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Temporal Parsing → Hybrid Indexing → Retrieval → Verification → Answer Generation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512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124712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/icons/p1_ing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845" y="2388413"/>
            <a:ext cx="362102" cy="36210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947672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194767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58952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86384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OCR extract text from policies, schedules, endorsements.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240280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2523744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2980944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home/claude/ppt/icons/p1_par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077" y="2388413"/>
            <a:ext cx="362102" cy="36210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803904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3803904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2615184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&amp; Version Parsing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2642616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tagged with effective dates and linked to prior versions.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096512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4379976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4837176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/home/claude/ppt/icons/p1_ind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5309" y="2388413"/>
            <a:ext cx="362102" cy="36210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660136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 txBox="1"/>
          <p:nvPr/>
        </p:nvSpPr>
        <p:spPr>
          <a:xfrm>
            <a:off x="5660136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4471416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Indexing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498848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index + Sentence-Transformer embeddings in pgvector.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5952744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6236208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6693408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4" descr="/home/claude/ppt/icons/p1_retrie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1541" y="2388413"/>
            <a:ext cx="362102" cy="36210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7516368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 txBox="1"/>
          <p:nvPr/>
        </p:nvSpPr>
        <p:spPr>
          <a:xfrm>
            <a:off x="751636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6327648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6355080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matched via combined keyword and semantic search.</a:t>
            </a:r>
            <a:endParaRPr lang="en-US" sz="950" dirty="0"/>
          </a:p>
        </p:txBody>
      </p:sp>
      <p:sp>
        <p:nvSpPr>
          <p:cNvPr id="41" name="Text 34"/>
          <p:cNvSpPr txBox="1"/>
          <p:nvPr/>
        </p:nvSpPr>
        <p:spPr>
          <a:xfrm>
            <a:off x="7808976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35"/>
          <p:cNvSpPr/>
          <p:nvPr/>
        </p:nvSpPr>
        <p:spPr>
          <a:xfrm>
            <a:off x="8092440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6"/>
          <p:cNvSpPr/>
          <p:nvPr/>
        </p:nvSpPr>
        <p:spPr>
          <a:xfrm>
            <a:off x="8549640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5" descr="/home/claude/ppt/icons/p1_verif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7773" y="2388413"/>
            <a:ext cx="362102" cy="362102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9372600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8"/>
          <p:cNvSpPr txBox="1"/>
          <p:nvPr/>
        </p:nvSpPr>
        <p:spPr>
          <a:xfrm>
            <a:off x="937260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7" name="Text 39"/>
          <p:cNvSpPr txBox="1"/>
          <p:nvPr/>
        </p:nvSpPr>
        <p:spPr>
          <a:xfrm>
            <a:off x="8183880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Verification</a:t>
            </a:r>
            <a:endParaRPr lang="en-US" sz="1150" dirty="0"/>
          </a:p>
        </p:txBody>
      </p:sp>
      <p:sp>
        <p:nvSpPr>
          <p:cNvPr id="48" name="Text 40"/>
          <p:cNvSpPr txBox="1"/>
          <p:nvPr/>
        </p:nvSpPr>
        <p:spPr>
          <a:xfrm>
            <a:off x="8211312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 and supersession checked against effective dates.</a:t>
            </a:r>
            <a:endParaRPr lang="en-US" sz="950" dirty="0"/>
          </a:p>
        </p:txBody>
      </p:sp>
      <p:sp>
        <p:nvSpPr>
          <p:cNvPr id="49" name="Text 41"/>
          <p:cNvSpPr txBox="1"/>
          <p:nvPr/>
        </p:nvSpPr>
        <p:spPr>
          <a:xfrm>
            <a:off x="9665208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0" name="Shape 42"/>
          <p:cNvSpPr/>
          <p:nvPr/>
        </p:nvSpPr>
        <p:spPr>
          <a:xfrm>
            <a:off x="9948672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3"/>
          <p:cNvSpPr/>
          <p:nvPr/>
        </p:nvSpPr>
        <p:spPr>
          <a:xfrm>
            <a:off x="10405872" y="224028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2" name="Image 6" descr="/home/claude/ppt/icons/p1_answ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4005" y="2388413"/>
            <a:ext cx="362102" cy="362102"/>
          </a:xfrm>
          <a:prstGeom prst="rect">
            <a:avLst/>
          </a:prstGeom>
        </p:spPr>
      </p:pic>
      <p:sp>
        <p:nvSpPr>
          <p:cNvPr id="53" name="Shape 44"/>
          <p:cNvSpPr/>
          <p:nvPr/>
        </p:nvSpPr>
        <p:spPr>
          <a:xfrm>
            <a:off x="11228832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5"/>
          <p:cNvSpPr txBox="1"/>
          <p:nvPr/>
        </p:nvSpPr>
        <p:spPr>
          <a:xfrm>
            <a:off x="1122883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55" name="Text 46"/>
          <p:cNvSpPr txBox="1"/>
          <p:nvPr/>
        </p:nvSpPr>
        <p:spPr>
          <a:xfrm>
            <a:off x="10040112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</a:t>
            </a:r>
            <a:endParaRPr lang="en-US" sz="1150" dirty="0"/>
          </a:p>
        </p:txBody>
      </p:sp>
      <p:sp>
        <p:nvSpPr>
          <p:cNvPr id="56" name="Text 47"/>
          <p:cNvSpPr txBox="1"/>
          <p:nvPr/>
        </p:nvSpPr>
        <p:spPr>
          <a:xfrm>
            <a:off x="10067544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drafts a cited answer, flagged for human review.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49"/>
          <p:cNvSpPr txBox="1"/>
          <p:nvPr/>
        </p:nvSpPr>
        <p:spPr>
          <a:xfrm>
            <a:off x="86868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feedback and newly filed amendments feed back into the clause-versioning store, keeping the retrieval index current.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8328" y="1600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cons/ai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" y="262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ModelSentinel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109960" y="109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05156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94944" y="117957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/icons/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129479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8448" y="1216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1828800"/>
            <a:ext cx="484632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increasingly use third-party AI models.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may contain suspicious hidden patterns in weights.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focus on code, signatures or file integrity.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model weights are rarely inspected deeply.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an AI supply-chain security risk.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105156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345936" y="11795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pt/icons/objec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150" y="12947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1216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565392" y="1828800"/>
            <a:ext cx="484632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AI models without executing untrusted code.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patterns inside model weights.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the exact risky tensor and block.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explainable security decisions.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enterprise security and MLOps workflows.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11091672" cy="2240280"/>
          </a:xfrm>
          <a:prstGeom prst="roundRect">
            <a:avLst>
              <a:gd name="adj" fmla="val 36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96112" y="432511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ppt/icons/id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" y="444855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36192" y="4361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946904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ModelSentinel inspects a model's numerical weights directly, without ever executing its code — closing the gap left by tools that only check signatures or file integrity. It flags anomalous tensors, explains why they were flagged, and pinpoints the exact block, giving security teams a clear ALLOW / REVIEW / QUARANTINE call before a third-party model ever reaches production.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8328" y="1600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cons/ai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" y="262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ModelSentinel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Technical Stack &amp; Expected Outcomes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109960" y="109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05156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94944" y="117957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/icons/data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129479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8448" y="1216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1828800"/>
            <a:ext cx="4846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SafeTensors model artifacts.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clean and suspicious model versions.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harmless canary patterns into tensor blocks.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labeled train, validation and test datasets.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94944" y="39227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pt/icons/outco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" y="40379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39593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4572000"/>
            <a:ext cx="4846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AI model security scanner.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suspicious weight-level patterns.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scoring and localization.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REVIEW or QUARANTINE recommendations.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trust in external AI models.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9632" y="1051560"/>
            <a:ext cx="5440680" cy="53492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345936" y="117957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ppt/icons/st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150" y="129479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9440" y="1216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400800" y="192024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64008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6912864" y="18653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NumPy + pandas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processing and analysis.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0" y="274320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 txBox="1"/>
          <p:nvPr/>
        </p:nvSpPr>
        <p:spPr>
          <a:xfrm>
            <a:off x="64008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6912864" y="26883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Secure model-weight storage and inspection.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400800" y="356616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 txBox="1"/>
          <p:nvPr/>
        </p:nvSpPr>
        <p:spPr>
          <a:xfrm>
            <a:off x="64008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6912864" y="35112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Detection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Detect abnormal patterns.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400800" y="438912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 txBox="1"/>
          <p:nvPr/>
        </p:nvSpPr>
        <p:spPr>
          <a:xfrm>
            <a:off x="640080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912864" y="4334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Risk prediction and classification.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6400800" y="5212080"/>
            <a:ext cx="365760" cy="3657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 txBox="1"/>
          <p:nvPr/>
        </p:nvSpPr>
        <p:spPr>
          <a:xfrm>
            <a:off x="640080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6912864" y="51572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FastAPI + Docker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Dashboard and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8328" y="1600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/icons/ai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" y="262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ModelSentinel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Pipeline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109960" y="109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Weight Extraction → Anomaly Detection → Risk Classification → Localization → Decision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512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124712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/icons/p2_ing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845" y="2388413"/>
            <a:ext cx="362102" cy="36210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947672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194767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58952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Ingestion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86384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 artifact loaded read-only — no code is ever executed.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240280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2523744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2980944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home/claude/ppt/icons/p2_we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077" y="2388413"/>
            <a:ext cx="362102" cy="36210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803904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3803904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2615184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Extraction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2642616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and metadata parsed with NumPy / pandas for analysis.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096512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4379976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4837176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/home/claude/ppt/icons/p2_anoma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5309" y="2388413"/>
            <a:ext cx="362102" cy="36210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660136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 txBox="1"/>
          <p:nvPr/>
        </p:nvSpPr>
        <p:spPr>
          <a:xfrm>
            <a:off x="5660136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4471416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498848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checks flag abnormal value patterns per tensor block.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5952744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6236208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6693408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4" descr="/home/claude/ppt/icons/p2_ri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1541" y="2388413"/>
            <a:ext cx="362102" cy="36210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7516368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 txBox="1"/>
          <p:nvPr/>
        </p:nvSpPr>
        <p:spPr>
          <a:xfrm>
            <a:off x="751636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6327648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6355080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scores overall model risk from flagged features.</a:t>
            </a:r>
            <a:endParaRPr lang="en-US" sz="950" dirty="0"/>
          </a:p>
        </p:txBody>
      </p:sp>
      <p:sp>
        <p:nvSpPr>
          <p:cNvPr id="41" name="Text 34"/>
          <p:cNvSpPr txBox="1"/>
          <p:nvPr/>
        </p:nvSpPr>
        <p:spPr>
          <a:xfrm>
            <a:off x="7808976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35"/>
          <p:cNvSpPr/>
          <p:nvPr/>
        </p:nvSpPr>
        <p:spPr>
          <a:xfrm>
            <a:off x="8092440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6"/>
          <p:cNvSpPr/>
          <p:nvPr/>
        </p:nvSpPr>
        <p:spPr>
          <a:xfrm>
            <a:off x="8549640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5" descr="/home/claude/ppt/icons/p2_localiz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7773" y="2388413"/>
            <a:ext cx="362102" cy="362102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9372600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8"/>
          <p:cNvSpPr txBox="1"/>
          <p:nvPr/>
        </p:nvSpPr>
        <p:spPr>
          <a:xfrm>
            <a:off x="937260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7" name="Text 39"/>
          <p:cNvSpPr txBox="1"/>
          <p:nvPr/>
        </p:nvSpPr>
        <p:spPr>
          <a:xfrm>
            <a:off x="8183880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150" dirty="0"/>
          </a:p>
        </p:txBody>
      </p:sp>
      <p:sp>
        <p:nvSpPr>
          <p:cNvPr id="48" name="Text 40"/>
          <p:cNvSpPr txBox="1"/>
          <p:nvPr/>
        </p:nvSpPr>
        <p:spPr>
          <a:xfrm>
            <a:off x="8211312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risky tensor and block are pinpointed for inspection.</a:t>
            </a:r>
            <a:endParaRPr lang="en-US" sz="950" dirty="0"/>
          </a:p>
        </p:txBody>
      </p:sp>
      <p:sp>
        <p:nvSpPr>
          <p:cNvPr id="49" name="Text 41"/>
          <p:cNvSpPr txBox="1"/>
          <p:nvPr/>
        </p:nvSpPr>
        <p:spPr>
          <a:xfrm>
            <a:off x="9665208" y="26289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0" name="Shape 42"/>
          <p:cNvSpPr/>
          <p:nvPr/>
        </p:nvSpPr>
        <p:spPr>
          <a:xfrm>
            <a:off x="9948672" y="1965960"/>
            <a:ext cx="1572768" cy="2880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88900" dist="25400" dir="5400000" algn="bl" rotWithShape="0">
              <a:srgbClr val="9AA5C7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3"/>
          <p:cNvSpPr/>
          <p:nvPr/>
        </p:nvSpPr>
        <p:spPr>
          <a:xfrm>
            <a:off x="10405872" y="224028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2" name="Image 6" descr="/home/claude/ppt/icons/p2_decis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4005" y="2388413"/>
            <a:ext cx="362102" cy="362102"/>
          </a:xfrm>
          <a:prstGeom prst="rect">
            <a:avLst/>
          </a:prstGeom>
        </p:spPr>
      </p:pic>
      <p:sp>
        <p:nvSpPr>
          <p:cNvPr id="53" name="Shape 44"/>
          <p:cNvSpPr/>
          <p:nvPr/>
        </p:nvSpPr>
        <p:spPr>
          <a:xfrm>
            <a:off x="11228832" y="187452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5"/>
          <p:cNvSpPr txBox="1"/>
          <p:nvPr/>
        </p:nvSpPr>
        <p:spPr>
          <a:xfrm>
            <a:off x="1122883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55" name="Text 46"/>
          <p:cNvSpPr txBox="1"/>
          <p:nvPr/>
        </p:nvSpPr>
        <p:spPr>
          <a:xfrm>
            <a:off x="10040112" y="30449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Output</a:t>
            </a:r>
            <a:endParaRPr lang="en-US" sz="1150" dirty="0"/>
          </a:p>
        </p:txBody>
      </p:sp>
      <p:sp>
        <p:nvSpPr>
          <p:cNvPr id="56" name="Text 47"/>
          <p:cNvSpPr txBox="1"/>
          <p:nvPr/>
        </p:nvSpPr>
        <p:spPr>
          <a:xfrm>
            <a:off x="10067544" y="365760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ALLOW, REVIEW or QUARANTINE recommendation is issued.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49"/>
          <p:cNvSpPr txBox="1"/>
          <p:nvPr/>
        </p:nvSpPr>
        <p:spPr>
          <a:xfrm>
            <a:off x="86868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findings from security review are added back into the labeled dataset, sharpening future anomaly detection.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869</Words>
  <Application>Microsoft Office PowerPoint</Application>
  <PresentationFormat>Widescreen</PresentationFormat>
  <Paragraphs>156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Sasivardhan Talluri</cp:lastModifiedBy>
  <cp:revision>2</cp:revision>
  <dcterms:created xsi:type="dcterms:W3CDTF">2026-08-28T06:15:14Z</dcterms:created>
  <dcterms:modified xsi:type="dcterms:W3CDTF">2026-08-28T06:24:02Z</dcterms:modified>
</cp:coreProperties>
</file>