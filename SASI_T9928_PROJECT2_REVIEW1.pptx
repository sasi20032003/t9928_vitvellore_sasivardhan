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  <p:sldId id="2147470498" r:id="rId11"/>
    <p:sldId id="2147470499" r:id="rId12"/>
    <p:sldId id="2147470500" r:id="rId13"/>
    <p:sldId id="2147470501" r:id="rId14"/>
    <p:sldId id="214747050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26B47-5542-4C20-AAA8-6687FE82D766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5E0-8AB8-4AC1-989D-17D007E91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76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5D5E0-8AB8-4AC1-989D-17D007E9197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80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ModelSentinel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: Static Forensic Analysis and Uncertainty-Aware </a:t>
            </a: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Defense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 Framework for AI Model Supply-Chain Security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Sasi Vardhan Talluri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</a:rPr>
              <a:t>The AI Supply-Chain Paradigm Shift: Modern enterprises and developers ingest millions of pre-trained models and LoRA adapters directly from open hubs (Hugging Face, Civitai).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The SafeTensors Fallacy: The industry migrated from legacy pickle to .safetensors to prevent Remote Code Execution (RCE). However, this created a false sense of security—.safetensors secures the file envelope, but is completely blind to weaponized mathematical weights inside.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Weaponized Weight-Space Threats: Attackers can inject neural Trojans, dormant sleeper-agent triggers, and IEEE-754 bitplane steganography directly into floating-point tensors without altering file syntax.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The Execution Dilemma: Traditional security requires running inference on models, which risks GPU cluster contamination and cannot catch hidden triggers without knowing the secret activation phrase.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16214" cy="5041356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</a:rPr>
              <a:t>Zero-Runtime-Execution Forensics: Develop an automated static auditing engine that inspects .safetensors weights at rest without executing untrusted model code.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Dual-Engine Feature Synthesis: Combine 14 macroscopic distributional statistical moments with 9 microscopic Random Matrix Theory (RMT) spectral descriptors.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Mitigate the Layer-Dilution Vulnerability: Formulate Log-Sum-Exp Multiple Instance Learning (LSE-MIL) pooling so single-layer backdoor injections cannot be washed out by nominal peer layers.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Sub-Tensor Localization &amp; Surgical Remediation: Pinpoint anomalous coordinates down to 256-element parameter blocks and synthesize rank-1 SVD deflation prescriptions ($W - \sigma_1 u_1 v_1^T$) to neutralize backdoors without retraining.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Enterprise Integration: Deploy as a microservice (FastAPI), an interactive analyst dashboard (Streamlit), and an AI Agent Tool via Model Context Protocol (MCP).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21274" y="5454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36136" cy="4859756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</a:rPr>
              <a:t>Supported Architectures: Covers multi-billion parameter Transformer LLMs (Llama-3, Mistral, Qwen), Vision Transformers (ViT), Convolutional Networks, and PEFT / LoRA adapter matrices.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Target File Formats: Ingests uncompressed .safetensors model checkpoints and sharded checkpoints via memory-mapped, zero-copy deserialization.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Operational Boundaries: Operates on lightweight CPU infrastructure with sub-1.5s scanning latency per tensor; does not require high-end GPU clusters.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Regulatory &amp; Compliance Alignment: Directly maps forensic artifacts to EU AI Act (Article 15) and US NIST AI Risk Management Framework (AI 600-1) supply-chain integrity standards.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766115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</a:rPr>
              <a:t>Gu et al. (2017) &amp; Turner et al. (2019) — Neural Backdoors: Established that gradient-engineered perturbations embed covert input triggers while maintaining standard benchmark accuracy.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Marchenko &amp; Pastur (1967) — Random Matrix Theory: Formulated the analytical bulk noise boundary ($\lambda_{\text{bulk}}$) for sample covariance matrices of random variables.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Baik, Ben Arous, &amp; Péché (2005) — BBP Phase Transition: Proved that low-rank perturbations in random matrices cause principal singular values ($\sigma_1$) to decouple abruptly from the spectral noise bulk.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Martin &amp; Mahoney (2019–2021) — Heavy-Tailed ESD: Demonstrated that well-trained deep neural networks exhibit power-law empirical spectral distributions ($\alpha \in [2.0, 5.0]$).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Ilse et al. (2018) — Multiple Instance Learning (MIL): Proposed attention and Log-Sum-Exp pooling to aggregate instance-level labels into bag-level predictions under high noise.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81106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</a:rPr>
              <a:t>Existing Tool Landscape &amp; Critical Gaps:</a:t>
            </a:r>
          </a:p>
          <a:p>
            <a:pPr lvl="1"/>
            <a:r>
              <a:rPr lang="en-IN" i="1" dirty="0" err="1"/>
              <a:t>PickleScan</a:t>
            </a:r>
            <a:r>
              <a:rPr lang="en-IN" i="1" dirty="0"/>
              <a:t> &amp; </a:t>
            </a:r>
            <a:r>
              <a:rPr lang="en-IN" i="1" dirty="0" err="1"/>
              <a:t>ClamAV</a:t>
            </a:r>
            <a:r>
              <a:rPr lang="en-IN" i="1" dirty="0"/>
              <a:t>:</a:t>
            </a:r>
            <a:r>
              <a:rPr lang="en-IN" dirty="0"/>
              <a:t> Inspect only file headers and serialization opcodes; emit a false "Clean" checkmark on poisoned .</a:t>
            </a:r>
            <a:r>
              <a:rPr lang="en-IN" dirty="0" err="1"/>
              <a:t>safetensors</a:t>
            </a:r>
            <a:r>
              <a:rPr lang="en-IN" dirty="0"/>
              <a:t> files.</a:t>
            </a:r>
          </a:p>
          <a:p>
            <a:pPr lvl="1"/>
            <a:r>
              <a:rPr lang="en-IN" i="1" dirty="0"/>
              <a:t>NIST </a:t>
            </a:r>
            <a:r>
              <a:rPr lang="en-IN" i="1" dirty="0" err="1"/>
              <a:t>TrojAI</a:t>
            </a:r>
            <a:r>
              <a:rPr lang="en-IN" i="1" dirty="0"/>
              <a:t> &amp; Dynamic Scanners:</a:t>
            </a:r>
            <a:r>
              <a:rPr lang="en-IN" dirty="0"/>
              <a:t> Require executing untrusted code on live GPUs, consuming significant compute and failing against dormant triggers.</a:t>
            </a:r>
          </a:p>
          <a:p>
            <a:pPr lvl="1"/>
            <a:r>
              <a:rPr lang="en-IN" i="1" dirty="0" err="1"/>
              <a:t>ModelScan</a:t>
            </a:r>
            <a:r>
              <a:rPr lang="en-IN" i="1" dirty="0"/>
              <a:t>:</a:t>
            </a:r>
            <a:r>
              <a:rPr lang="en-IN" dirty="0"/>
              <a:t> Limited to basic syntax heuristics; lacks spectral decomposition and layer-dilution </a:t>
            </a:r>
            <a:r>
              <a:rPr lang="en-IN" dirty="0" err="1"/>
              <a:t>defenses</a:t>
            </a:r>
            <a:r>
              <a:rPr lang="en-IN" dirty="0"/>
              <a:t>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The Unaddressed Research Gap: No existing production framework performs static, zero-execution weight forensics using Random Matrix Theory and bitplane entropy on modern foundation model checkpoints.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ModelSentinel's Novel Contribution: Bridges physics-grounded RMT with IEEE-754 mantissa entropy to achieve 96.5% accuracy with 0% false quarantines on clean foundation models.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</a:rPr>
              <a:t>BBP Phase Transition Spike Formulation: $$\sigma_{\text{bulk}} = \frac{\text{MAD}(W)}{0.6745}, \quad \lambda_{\text{bulk}} = \sigma_{\text{bulk}}(\sqrt{n} + \sqrt{m}), \quad \mathcal{R}</a:t>
            </a:r>
            <a:r>
              <a:rPr lang="en-IN" b="0" i="1" dirty="0">
                <a:solidFill>
                  <a:schemeClr val="tx1"/>
                </a:solidFill>
              </a:rPr>
              <a:t>{\text{BBP}} = \frac{\sigma_1}{\lambda</a:t>
            </a:r>
            <a:r>
              <a:rPr lang="en-IN" b="0" dirty="0">
                <a:solidFill>
                  <a:schemeClr val="tx1"/>
                </a:solidFill>
              </a:rPr>
              <a:t>{\text{bulk}}}$$ </a:t>
            </a:r>
            <a:r>
              <a:rPr lang="en-IN" b="0" i="1" dirty="0">
                <a:solidFill>
                  <a:schemeClr val="tx1"/>
                </a:solidFill>
              </a:rPr>
              <a:t>(Ratio $&gt; 1.25$ indicates an isolated, weaponized rank-1 perturbation).</a:t>
            </a:r>
            <a:endParaRPr lang="en-IN" b="0" dirty="0">
              <a:solidFill>
                <a:schemeClr val="tx1"/>
              </a:solidFill>
            </a:endParaRP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Mantissa Bitplane Shannon Entropy ($H_{\text{mant}}$): Evaluates randomness in the lower 8 mantissa bits of IEEE-754 floats; saturation ($H \to 1.0$) detects encrypted shellcode and steganography.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Log-Sum-Exp Anti-Dilution Pooling: $$\text{LSE}(s; \tau) = \frac{1}{\tau} \ln \left( \sum_{i=1}^N \exp(\tau \cdot s_i) \right)$$ </a:t>
            </a:r>
            <a:r>
              <a:rPr lang="en-IN" b="0" i="1" dirty="0">
                <a:solidFill>
                  <a:schemeClr val="tx1"/>
                </a:solidFill>
              </a:rPr>
              <a:t>(Mathematically bounds model risk by the worst compromised layer).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61184" cy="60439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Module 1: </a:t>
            </a:r>
            <a:r>
              <a:rPr lang="en-US" sz="2400" b="0" dirty="0">
                <a:solidFill>
                  <a:schemeClr val="tx1"/>
                </a:solidFill>
              </a:rPr>
              <a:t>Safe Ingestion, Cryptographic Hashing &amp; Architectural Layer Stratification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Module 2: </a:t>
            </a:r>
            <a:r>
              <a:rPr lang="en-US" sz="2400" b="0" dirty="0">
                <a:solidFill>
                  <a:schemeClr val="tx1"/>
                </a:solidFill>
              </a:rPr>
              <a:t>Dual-Engine Feature Extraction (14 Distributional Moments + 9 Spectral RMT Descriptors)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Module 3: </a:t>
            </a:r>
            <a:r>
              <a:rPr lang="en-US" sz="2400" b="0" dirty="0">
                <a:solidFill>
                  <a:schemeClr val="tx1"/>
                </a:solidFill>
              </a:rPr>
              <a:t>Intra-Model Peer Scoring &amp; Log-Sum-Exp Multiple Instance Learning (LSE-MIL) Pooling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Module 4: </a:t>
            </a:r>
            <a:r>
              <a:rPr lang="en-US" sz="2400" b="0" dirty="0">
                <a:solidFill>
                  <a:schemeClr val="tx1"/>
                </a:solidFill>
              </a:rPr>
              <a:t>Supervised Classification, Sub-Tensor Localization &amp; Surgical SVD Remediation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Module 5: </a:t>
            </a:r>
            <a:r>
              <a:rPr lang="en-US" sz="2400" b="0" dirty="0">
                <a:solidFill>
                  <a:schemeClr val="tx1"/>
                </a:solidFill>
              </a:rPr>
              <a:t>Enterprise Interfaces &amp; Integrations (</a:t>
            </a:r>
            <a:r>
              <a:rPr lang="en-US" sz="2400" b="0" dirty="0" err="1">
                <a:solidFill>
                  <a:schemeClr val="tx1"/>
                </a:solidFill>
              </a:rPr>
              <a:t>FastAPI</a:t>
            </a:r>
            <a:r>
              <a:rPr lang="en-US" sz="2400" b="0" dirty="0">
                <a:solidFill>
                  <a:schemeClr val="tx1"/>
                </a:solidFill>
              </a:rPr>
              <a:t> REST Backend, </a:t>
            </a:r>
            <a:r>
              <a:rPr lang="en-US" sz="2400" b="0" dirty="0" err="1">
                <a:solidFill>
                  <a:schemeClr val="tx1"/>
                </a:solidFill>
              </a:rPr>
              <a:t>Streamlit</a:t>
            </a:r>
            <a:r>
              <a:rPr lang="en-US" sz="2400" b="0" dirty="0">
                <a:solidFill>
                  <a:schemeClr val="tx1"/>
                </a:solidFill>
              </a:rPr>
              <a:t> UI &amp; AI Agent MCP)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Memory-Mapped Parsing &amp; Peer Cohort Grouping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Zero-Copy Ingestion (ingestion.py): Uses safe_open to stream raw binary byte buffers with zero execution risk; verifies SHA-256 integrity and checks IEEE-754 finiteness ($NaN / \pm\infty$).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Architectural Layer Stratification (stratification.py): Categorizes parameters into functional cohorts (linear_weight, norm_bias, conv_weight, embedding_weight).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Eliminating False Positives: Prevents flawed statistical comparisons between 1D normalization biases and high-dimensional attention projection matrices.</a:t>
            </a:r>
          </a:p>
          <a:p>
            <a:pPr lvl="1"/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/>
              <a:t>Module 1: Safe Ingestion &amp; Stratification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C1067F05-1D45-47A8-43F2-9BF445DB9D04}"/>
              </a:ext>
            </a:extLst>
          </p:cNvPr>
          <p:cNvSpPr txBox="1">
            <a:spLocks/>
          </p:cNvSpPr>
          <p:nvPr/>
        </p:nvSpPr>
        <p:spPr>
          <a:xfrm>
            <a:off x="255996" y="1271219"/>
            <a:ext cx="10624338" cy="4445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Micro-Statistical &amp; Macro-Spectral Descriptors </a:t>
            </a:r>
          </a:p>
          <a:p>
            <a:r>
              <a:rPr lang="en-IN" b="1" dirty="0"/>
              <a:t>Distributional Engine (features.py):</a:t>
            </a:r>
            <a:r>
              <a:rPr lang="en-IN" dirty="0"/>
              <a:t> Computes </a:t>
            </a:r>
            <a:r>
              <a:rPr lang="en-IN" dirty="0" err="1"/>
              <a:t>Sarle’s</a:t>
            </a:r>
            <a:r>
              <a:rPr lang="en-IN" dirty="0"/>
              <a:t> bimodality coefficient ($BC &gt; 0.555$), kurtosis, duplicate float ties ($R_{\text{dup}}$), and mantissa Shannon entropy across 14 moments.</a:t>
            </a:r>
          </a:p>
          <a:p>
            <a:r>
              <a:rPr lang="en-IN" b="1" dirty="0"/>
              <a:t>Spectral RMT Engine (spectral.py):</a:t>
            </a:r>
            <a:r>
              <a:rPr lang="en-IN" dirty="0"/>
              <a:t> Performs Singular Value Decomposition ($W = U \Sigma V^T$) to extract top singular values ($\sigma_1$), energy concentration, and spectral entropy.</a:t>
            </a:r>
          </a:p>
          <a:p>
            <a:r>
              <a:rPr lang="en-IN" b="1" dirty="0"/>
              <a:t>Empirical Spectral Tail Fitting:</a:t>
            </a:r>
            <a:r>
              <a:rPr lang="en-IN" dirty="0"/>
              <a:t> Evaluates power-law tail exponent ($\alpha$) via Maximum Likelihood Estimation; detects pathological rank collapses ($\alpha &lt; 1.8$)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42424"/>
              </a:solidFill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FE507-95AF-0628-BDE9-AA8D424519E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/>
              <a:t>Module 2: Dual-Engine Feature Extraction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D1B3E4-E5DF-FE47-E44A-072F0404C8D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F07592-AD6B-0186-BAD4-A4A4C569B3F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8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139492D9-0694-5053-347B-A0F21D679D79}"/>
              </a:ext>
            </a:extLst>
          </p:cNvPr>
          <p:cNvSpPr txBox="1">
            <a:spLocks/>
          </p:cNvSpPr>
          <p:nvPr/>
        </p:nvSpPr>
        <p:spPr>
          <a:xfrm>
            <a:off x="255996" y="1271219"/>
            <a:ext cx="10624338" cy="4445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b="1" dirty="0"/>
              <a:t>Stratified Normalization &amp; Multiple Instance Learning</a:t>
            </a:r>
          </a:p>
          <a:p>
            <a:pPr lvl="0"/>
            <a:r>
              <a:rPr lang="en-IN" b="1" dirty="0"/>
              <a:t>Intra-Cohort Peer Normalization (anomaly.py):</a:t>
            </a:r>
            <a:r>
              <a:rPr lang="en-IN" dirty="0"/>
              <a:t> Computes robust Z-scores and Interquartile Range (IQR) deviations within architectural cohorts, assigning each tensor an anomaly score $\in [0, 1]$.</a:t>
            </a:r>
          </a:p>
          <a:p>
            <a:pPr lvl="0"/>
            <a:r>
              <a:rPr lang="en-IN" b="1" dirty="0"/>
              <a:t>The Layer-Dilution Solution (pooling.py):</a:t>
            </a:r>
            <a:r>
              <a:rPr lang="en-IN" dirty="0"/>
              <a:t> Standard arithmetic averaging fails when 1 layer out of 80 is poisoned; Log-Sum-Exp (LSE) pooling ensures the most anomalous layer dominates model risk.</a:t>
            </a:r>
          </a:p>
          <a:p>
            <a:pPr lvl="0"/>
            <a:r>
              <a:rPr lang="en-IN" b="1" dirty="0"/>
              <a:t>Hard Lower-Bound Safety Floor:</a:t>
            </a:r>
            <a:r>
              <a:rPr lang="en-IN" dirty="0"/>
              <a:t> Guarantees that any single tensor exhibiting an anomaly score $\</a:t>
            </a:r>
            <a:r>
              <a:rPr lang="en-IN" dirty="0" err="1"/>
              <a:t>ge</a:t>
            </a:r>
            <a:r>
              <a:rPr lang="en-IN" dirty="0"/>
              <a:t> 0.90$ automatically floors model risk to $\</a:t>
            </a:r>
            <a:r>
              <a:rPr lang="en-IN" dirty="0" err="1"/>
              <a:t>ge</a:t>
            </a:r>
            <a:r>
              <a:rPr lang="en-IN" dirty="0"/>
              <a:t> 0.75$, forcing security quarantine.</a:t>
            </a:r>
          </a:p>
          <a:p>
            <a:pPr marL="0" lvl="0" indent="0">
              <a:buNone/>
            </a:pP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F64AC-C2CA-83E4-8CB7-2D3015503FE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/>
              <a:t>Module 3: Anomaly Scoring &amp; Anti-Dilution Pooling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AFA690-85BC-CE5B-CE9E-BCEA09AE706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4B32C8-5DF5-8C64-841C-B2D63406671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83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5C53D14-6504-2259-711B-3AFA0B14FACF}"/>
              </a:ext>
            </a:extLst>
          </p:cNvPr>
          <p:cNvSpPr txBox="1">
            <a:spLocks/>
          </p:cNvSpPr>
          <p:nvPr/>
        </p:nvSpPr>
        <p:spPr>
          <a:xfrm>
            <a:off x="255996" y="1271219"/>
            <a:ext cx="10624338" cy="4445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Surgical SVD Deflation &amp; Fail-Closed Gating</a:t>
            </a:r>
          </a:p>
          <a:p>
            <a:pPr lvl="0"/>
            <a:r>
              <a:rPr lang="en-IN" b="1" dirty="0">
                <a:highlight>
                  <a:srgbClr val="FFFFFF"/>
                </a:highlight>
              </a:rPr>
              <a:t>Fail-Closed Decision Gating (decision.py):</a:t>
            </a:r>
            <a:r>
              <a:rPr lang="en-IN" dirty="0">
                <a:highlight>
                  <a:srgbClr val="FFFFFF"/>
                </a:highlight>
              </a:rPr>
              <a:t> Maps calibrated probabilities to unambiguous operational states: ALLOW ($&lt; 0.35$), REVIEW ($0.35–0.84$), and QUARANTINE ($\</a:t>
            </a:r>
            <a:r>
              <a:rPr lang="en-IN" dirty="0" err="1">
                <a:highlight>
                  <a:srgbClr val="FFFFFF"/>
                </a:highlight>
              </a:rPr>
              <a:t>ge</a:t>
            </a:r>
            <a:r>
              <a:rPr lang="en-IN" dirty="0">
                <a:highlight>
                  <a:srgbClr val="FFFFFF"/>
                </a:highlight>
              </a:rPr>
              <a:t> 0.85$).</a:t>
            </a:r>
          </a:p>
          <a:p>
            <a:pPr lvl="0"/>
            <a:r>
              <a:rPr lang="en-IN" b="1" dirty="0">
                <a:highlight>
                  <a:srgbClr val="FFFFFF"/>
                </a:highlight>
              </a:rPr>
              <a:t>Sub-Tensor Coordinate Localization (localization.py):</a:t>
            </a:r>
            <a:r>
              <a:rPr lang="en-IN" dirty="0">
                <a:highlight>
                  <a:srgbClr val="FFFFFF"/>
                </a:highlight>
              </a:rPr>
              <a:t> Partitions flagged layers into 256-element blocks to pinpoint the exact corrupted weights.</a:t>
            </a:r>
          </a:p>
          <a:p>
            <a:pPr lvl="0"/>
            <a:r>
              <a:rPr lang="en-IN" b="1" dirty="0">
                <a:highlight>
                  <a:srgbClr val="FFFFFF"/>
                </a:highlight>
              </a:rPr>
              <a:t>Surgical Linear-Algebra Remediation (remediation.py):</a:t>
            </a:r>
            <a:r>
              <a:rPr lang="en-IN" dirty="0">
                <a:highlight>
                  <a:srgbClr val="FFFFFF"/>
                </a:highlight>
              </a:rPr>
              <a:t> Computes rank-1 SVD deflation ($W_{\text{clean}} = W - \sigma_1 u_1 v_1^T$) to neutralize backdoor triggers without requiring expensive model retraining.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E6A83-D398-4892-A4B3-6E8D984AE8BC}"/>
              </a:ext>
            </a:extLst>
          </p:cNvPr>
          <p:cNvSpPr txBox="1"/>
          <p:nvPr/>
        </p:nvSpPr>
        <p:spPr>
          <a:xfrm>
            <a:off x="255995" y="502545"/>
            <a:ext cx="11211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/>
              <a:t>Module 4: Decision, Localization &amp; Surgical Remediation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83318F-21C1-FD98-030F-CAB5CF0FEF8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BC867A-761C-BB71-19AD-31E99533422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0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8B45887-C65B-F635-DC4C-9C8543998383}"/>
              </a:ext>
            </a:extLst>
          </p:cNvPr>
          <p:cNvSpPr txBox="1">
            <a:spLocks/>
          </p:cNvSpPr>
          <p:nvPr/>
        </p:nvSpPr>
        <p:spPr>
          <a:xfrm>
            <a:off x="255996" y="1271219"/>
            <a:ext cx="10624338" cy="4445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IN" b="1" dirty="0">
                <a:highlight>
                  <a:srgbClr val="FFFFFF"/>
                </a:highlight>
              </a:rPr>
              <a:t>Production Microservices, UI &amp; Agent Protocols</a:t>
            </a:r>
            <a:endParaRPr lang="en-IN" dirty="0">
              <a:highlight>
                <a:srgbClr val="FFFFFF"/>
              </a:highlight>
            </a:endParaRPr>
          </a:p>
          <a:p>
            <a:pPr lvl="1"/>
            <a:r>
              <a:rPr lang="en-IN" sz="2800" b="1" dirty="0">
                <a:highlight>
                  <a:srgbClr val="FFFFFF"/>
                </a:highlight>
              </a:rPr>
              <a:t>CLI Engine (cli.py):</a:t>
            </a:r>
            <a:r>
              <a:rPr lang="en-IN" sz="2800" dirty="0">
                <a:highlight>
                  <a:srgbClr val="FFFFFF"/>
                </a:highlight>
              </a:rPr>
              <a:t> Standalone terminal scanner with ASCII risk meters and CI/CD exit code gating (--fail-on QUARANTINE).</a:t>
            </a:r>
          </a:p>
          <a:p>
            <a:pPr lvl="1"/>
            <a:r>
              <a:rPr lang="en-IN" sz="2800" b="1" dirty="0" err="1">
                <a:highlight>
                  <a:srgbClr val="FFFFFF"/>
                </a:highlight>
              </a:rPr>
              <a:t>FastAPI</a:t>
            </a:r>
            <a:r>
              <a:rPr lang="en-IN" sz="2800" b="1" dirty="0">
                <a:highlight>
                  <a:srgbClr val="FFFFFF"/>
                </a:highlight>
              </a:rPr>
              <a:t> Microservice (</a:t>
            </a:r>
            <a:r>
              <a:rPr lang="en-IN" sz="2800" b="1" dirty="0" err="1">
                <a:highlight>
                  <a:srgbClr val="FFFFFF"/>
                </a:highlight>
              </a:rPr>
              <a:t>api</a:t>
            </a:r>
            <a:r>
              <a:rPr lang="en-IN" sz="2800" b="1" dirty="0">
                <a:highlight>
                  <a:srgbClr val="FFFFFF"/>
                </a:highlight>
              </a:rPr>
              <a:t>/routes.py):</a:t>
            </a:r>
            <a:r>
              <a:rPr lang="en-IN" sz="2800" dirty="0">
                <a:highlight>
                  <a:srgbClr val="FFFFFF"/>
                </a:highlight>
              </a:rPr>
              <a:t> Async REST API streaming multi-gigabyte uploads with automated JSON report generation.</a:t>
            </a:r>
          </a:p>
          <a:p>
            <a:pPr lvl="1"/>
            <a:r>
              <a:rPr lang="en-IN" sz="2800" b="1" dirty="0" err="1">
                <a:highlight>
                  <a:srgbClr val="FFFFFF"/>
                </a:highlight>
              </a:rPr>
              <a:t>Streamlit</a:t>
            </a:r>
            <a:r>
              <a:rPr lang="en-IN" sz="2800" b="1" dirty="0">
                <a:highlight>
                  <a:srgbClr val="FFFFFF"/>
                </a:highlight>
              </a:rPr>
              <a:t> Visual Dashboard (dashboard/):</a:t>
            </a:r>
            <a:r>
              <a:rPr lang="en-IN" sz="2800" dirty="0">
                <a:highlight>
                  <a:srgbClr val="FFFFFF"/>
                </a:highlight>
              </a:rPr>
              <a:t> Interactive UI displaying 2D/3D risk plots, eigenvalue spectra, and downloadable audit logs.</a:t>
            </a:r>
          </a:p>
          <a:p>
            <a:pPr lvl="1"/>
            <a:r>
              <a:rPr lang="en-IN" sz="2800" b="1" dirty="0">
                <a:highlight>
                  <a:srgbClr val="FFFFFF"/>
                </a:highlight>
              </a:rPr>
              <a:t>Model Context Protocol (MCP Server):</a:t>
            </a:r>
            <a:r>
              <a:rPr lang="en-IN" sz="2800" dirty="0">
                <a:highlight>
                  <a:srgbClr val="FFFFFF"/>
                </a:highlight>
              </a:rPr>
              <a:t> Exposes forensic tools over </a:t>
            </a:r>
            <a:r>
              <a:rPr lang="en-IN" sz="2800" dirty="0" err="1">
                <a:highlight>
                  <a:srgbClr val="FFFFFF"/>
                </a:highlight>
              </a:rPr>
              <a:t>stdio</a:t>
            </a:r>
            <a:r>
              <a:rPr lang="en-IN" sz="2800" dirty="0">
                <a:highlight>
                  <a:srgbClr val="FFFFFF"/>
                </a:highlight>
              </a:rPr>
              <a:t>, allowing AI agents (Claude, Cursor, Antigravity) to autonomously audit model weights before loading.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5D39C-0761-BC6B-039D-8C95EBE0061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/>
              <a:t>Module 5: Enterprise Deployment &amp; AI Agent MCP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2DB67A-38E3-B40F-9E0F-9D1CE27D1F1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7C260CA-70AC-8004-0D06-47C94B3FC84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32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E27BC8D-C37C-5B62-AE2E-09832CAC3204}"/>
              </a:ext>
            </a:extLst>
          </p:cNvPr>
          <p:cNvSpPr txBox="1">
            <a:spLocks/>
          </p:cNvSpPr>
          <p:nvPr/>
        </p:nvSpPr>
        <p:spPr>
          <a:xfrm>
            <a:off x="255996" y="1271219"/>
            <a:ext cx="10624338" cy="4445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C204D-C4F4-FA9F-C14D-35997DDB6241}"/>
              </a:ext>
            </a:extLst>
          </p:cNvPr>
          <p:cNvSpPr txBox="1"/>
          <p:nvPr/>
        </p:nvSpPr>
        <p:spPr>
          <a:xfrm>
            <a:off x="255996" y="502545"/>
            <a:ext cx="10624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Results &amp; Conclusion</a:t>
            </a:r>
            <a:endParaRPr lang="en-IN" sz="3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0BBBD8-1F0E-153B-1C59-F68D1011C7D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198394-0019-0FE1-5487-AE28D32F9E94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43401-75BA-6EDA-B501-4D2CDCE05A32}"/>
              </a:ext>
            </a:extLst>
          </p:cNvPr>
          <p:cNvSpPr txBox="1"/>
          <p:nvPr/>
        </p:nvSpPr>
        <p:spPr>
          <a:xfrm>
            <a:off x="255995" y="1296192"/>
            <a:ext cx="1098662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Empirical Benchmarks &amp; Summary</a:t>
            </a:r>
            <a:endParaRPr lang="en-I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tx1"/>
                </a:solidFill>
                <a:effectLst/>
                <a:latin typeface="+mn-lt"/>
              </a:rPr>
              <a:t>Empirical Validation: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 5-Fold Stratified Cross-Validation across 200 model checkpoints yielded </a:t>
            </a:r>
            <a:r>
              <a:rPr lang="en-IN" sz="2800" b="1" i="0" dirty="0">
                <a:solidFill>
                  <a:schemeClr val="tx1"/>
                </a:solidFill>
                <a:effectLst/>
                <a:latin typeface="+mn-lt"/>
              </a:rPr>
              <a:t>96.5% Accuracy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 and </a:t>
            </a:r>
            <a:r>
              <a:rPr lang="en-IN" sz="2800" b="1" i="0" dirty="0">
                <a:solidFill>
                  <a:schemeClr val="tx1"/>
                </a:solidFill>
                <a:effectLst/>
                <a:latin typeface="+mn-lt"/>
              </a:rPr>
              <a:t>0.987 ROC-AUC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tx1"/>
                </a:solidFill>
                <a:effectLst/>
                <a:latin typeface="+mn-lt"/>
              </a:rPr>
              <a:t>Zero False Alarms: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 Achieved </a:t>
            </a:r>
            <a:r>
              <a:rPr lang="en-IN" sz="2800" b="1" i="0" dirty="0">
                <a:solidFill>
                  <a:schemeClr val="tx1"/>
                </a:solidFill>
                <a:effectLst/>
                <a:latin typeface="+mn-lt"/>
              </a:rPr>
              <a:t>0.0% False Quarantine Rate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 across clean foundation models (Llama-3, Mistral, </a:t>
            </a:r>
            <a:r>
              <a:rPr lang="en-IN" sz="2800" b="0" i="0" dirty="0" err="1">
                <a:solidFill>
                  <a:schemeClr val="tx1"/>
                </a:solidFill>
                <a:effectLst/>
                <a:latin typeface="+mn-lt"/>
              </a:rPr>
              <a:t>ResNet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tx1"/>
                </a:solidFill>
                <a:effectLst/>
                <a:latin typeface="+mn-lt"/>
              </a:rPr>
              <a:t>Computational Efficiency: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 Average scan latency of </a:t>
            </a:r>
            <a:r>
              <a:rPr lang="en-IN" sz="2800" b="1" i="0" dirty="0">
                <a:solidFill>
                  <a:schemeClr val="tx1"/>
                </a:solidFill>
                <a:effectLst/>
                <a:latin typeface="+mn-lt"/>
              </a:rPr>
              <a:t>1.42s on standard commodity CPU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, eliminating the need for expensive GPU inference.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tx1"/>
                </a:solidFill>
                <a:effectLst/>
                <a:latin typeface="+mn-lt"/>
              </a:rPr>
              <a:t>Industry Impact: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 Delivers an enterprise-grade static security standard for AI model supply chains, closing the critical vulnerability left behind by the </a:t>
            </a:r>
            <a:r>
              <a:rPr lang="en-IN" sz="2800" b="0" i="0" dirty="0" err="1">
                <a:solidFill>
                  <a:schemeClr val="tx1"/>
                </a:solidFill>
                <a:effectLst/>
                <a:latin typeface="+mn-lt"/>
              </a:rPr>
              <a:t>SafeTensors</a:t>
            </a:r>
            <a: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  <a:t> Fallacy.</a:t>
            </a:r>
            <a:endParaRPr lang="en-IN" sz="2800" b="0" i="0" dirty="0">
              <a:solidFill>
                <a:srgbClr val="CCCCCC"/>
              </a:solidFill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30460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1696</Words>
  <Application>Microsoft Office PowerPoint</Application>
  <PresentationFormat>Widescreen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Calibri (Body)</vt:lpstr>
      <vt:lpstr>Frutiger 45 bold</vt:lpstr>
      <vt:lpstr>Frutiger LT Pro 45 Light</vt:lpstr>
      <vt:lpstr>Segoe WPC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Sasivardhan Talluri</cp:lastModifiedBy>
  <cp:revision>11</cp:revision>
  <dcterms:created xsi:type="dcterms:W3CDTF">2024-05-13T10:33:11Z</dcterms:created>
  <dcterms:modified xsi:type="dcterms:W3CDTF">2026-10-05T04:44:18Z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